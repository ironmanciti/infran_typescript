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a62ee293-c758-c9b2-3fb5-af412b677894}">
          <p14:sldIdLst>
            <p14:sldId id="256"/>
            <p14:sldId id="257"/>
          </p14:sldIdLst>
        </p14:section>
        <p14:section name="7강 어휘 구조" id="{642689f9-8d43-1276-12e3-c43a593dfb7a}">
          <p14:sldIdLst>
            <p14:sldId id="258"/>
            <p14:sldId id="259"/>
            <p14:sldId id="260"/>
            <p14:sldId id="261"/>
          </p14:sldIdLst>
        </p14:section>
        <p14:section name="8강 변수 선언" id="{5bafbda6-76c6-103e-1c4c-6909868f8ffb}">
          <p14:sldIdLst>
            <p14:sldId id="262"/>
            <p14:sldId id="263"/>
            <p14:sldId id="264"/>
            <p14:sldId id="265"/>
          </p14:sldIdLst>
        </p14:section>
        <p14:section name="9강 명명 규칙" id="{214a54c3-40fa-859a-f08b-5544b167d5db}">
          <p14:sldIdLst>
            <p14:sldId id="266"/>
            <p14:sldId id="267"/>
            <p14:sldId id="268"/>
            <p14:sldId id="269"/>
          </p14:sldIdLst>
        </p14:section>
        <p14:section name="10강 원시 타입과 유니언 타입" id="{25ad35c4-a891-a835-108d-80aecfba28bb}">
          <p14:sldIdLst>
            <p14:sldId id="270"/>
            <p14:sldId id="271"/>
            <p14:sldId id="272"/>
            <p14:sldId id="273"/>
            <p14:sldId id="274"/>
            <p14:sldId id="275"/>
          </p14:sldIdLst>
        </p14:section>
        <p14:section name="11강 실습" id="{4eb2a8aa-f7b6-f738-6671-a57e8e0fd0e1}">
          <p14:sldIdLst>
            <p14:sldId id="276"/>
            <p14:sldId id="277"/>
            <p14:sldId id="278"/>
          </p14:sldIdLst>
        </p14:section>
        <p14:section name="12강 산술 연산자" id="{0180d3d2-8df8-a317-2c9b-58dad2c32907}">
          <p14:sldIdLst>
            <p14:sldId id="279"/>
            <p14:sldId id="280"/>
            <p14:sldId id="281"/>
            <p14:sldId id="282"/>
            <p14:sldId id="283"/>
          </p14:sldIdLst>
        </p14:section>
        <p14:section name="13강 숫자로 변환" id="{34caef82-9f1a-c377-86b4-34613e29bc5c}">
          <p14:sldIdLst>
            <p14:sldId id="284"/>
            <p14:sldId id="285"/>
          </p14:sldIdLst>
        </p14:section>
        <p14:section name="14강 Infinity" id="{fc6cc43e-c37a-e2da-3bc7-206cb03f8038}">
          <p14:sldIdLst>
            <p14:sldId id="286"/>
            <p14:sldId id="287"/>
          </p14:sldIdLst>
        </p14:section>
        <p14:section name="15강 복합 대입 연산자" id="{f6fda4cd-61da-7b43-f484-6587187c8ffa}">
          <p14:sldIdLst>
            <p14:sldId id="288"/>
            <p14:sldId id="289"/>
          </p14:sldIdLst>
        </p14:section>
        <p14:section name="16강 정리 실습" id="{bcf491fa-f960-7fc9-11cb-645b9e89150a}">
          <p14:sldIdLst>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2에서는 TypeScript 코드를 구성하는 기본 요소인 어휘 구조, 변수, 데이터 타입, 연산자를 학습합니다.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섹션은 7강부터 16강까지 모두 10개의 강의로 구성되어 있습니다. 어휘 구조와 변수 선언에서 시작하여 원시 타입과 유니언 타입, 그리고 다양한 연산자를 차례로 학습합니다. 11강과 16강은 앞에서 배운 내용을 연습하는 실습 강의입니다.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어휘적 구조(lexical structure)에 대해 알아보겠습니다.
코드를 작성한다는 것은 컴퓨터가 특정 작업을 수행하도록 따를 일련의 명령을 만드는 과정입니다.
하지만 컴퓨터가 이러한 명령을 올바르게 이해하려면, 정확하고 체계적인 구조를 따라야 합니다.
바로 이 지점에서 프로그래밍 언어의 '어휘적 구조'가 중요한 역할을 합니다.
그렇다면 어휘적 구조란 정확히 무엇일까요?
어휘적 구조는 명령이 어떻게 작성되는지를 의미합니다.
여기에는 토큰, 공백, 주석, 대소문자 구분 등 컴퓨터가 코드를 해석하는 데 중요한 요소들이 포함됩니다.
토큰부터 살펴보겠습니다.
토큰은 코드를 구성하는 기본 단위입니다.
여기에는 키워드나 산술 연산자와 같은 연산자가 포함됩니다.
또한 식별자(identifier)와 리터럴(literal)도 있는데, 이는 코드를 구성하는 텍스트나 구두점 기호 등을 말합니다.
언어 내에서 특별한 의미를 지니는 '예약어(reserved keywords)'도 있습니다.
이러한 단어는 변수나 함수 이름으로 사용할 수 없는데, 이에 대해서는 실제 예시를 통해 확인해 보겠습니다.
토큰 외에도 공백과 주석은 어휘적 구조의 중요한 요소입니다.
공백(whitespace)은 토큰을 구분하고 코드의 가독성을 높이기 위해 사용되는 스페이스(공백 문자), 탭, 줄바꿈 등을 포함합니다.
반면 주석(comment)은 코드에 대한 설명을 적어두기 위해 사용되는 텍스트입니다.
주석은 프로그램의 동작에 아무런 영향을 미치지 않습니다.
한 줄 주석을 작성할 때는 슬래시 두 개(`//`)를 사용하고, 여러 줄 주석을 작성할 때는 슬래시와 별표(`/* ... */`)를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키워드에 대해 살펴보겠습니다.
키워드는 특별한 의미를 지니며 컴퓨터에 정확한 명령을 내리기 위해 사용되는 특정 단어입니다.
이러한 키워드는 예약되어 있으므로 코드 내에서 변수나 함수 이름, 또는 다른 어떤 식별자로도 사용할 수 없습니다.
예를 들어 예약어를 변수 이름으로 사용하려고 하면, 프로그래밍 언어의 컴파일러나 인터프리터가 오류를 발생시킵니다.
JavaScript에는 많은 키워드가 있는데, 그중에는 변수를 선언할 때 사용하는 `const`, `var`, `let` 등이 있습니다. 조건문에는 `if`, `else`, `switch`, `case`, `default`가 있고, 반복문(코드를 여러 번 실행하는 구문)에는 `while`, `do`, `break`가 있으며, 함수를 정의할 때는 `function`과 `return`을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연산자에 대해 이야기해 보겠습니다.
먼저 기본적인 수학 연산을 수행하는 산술 연산자부터 살펴보겠습니다.
JavaScript에서 사용되는 산술 연산자로는 덧셈을 위한 더하기 기호(+), 뺄셈을 위한 빼기 기호(-),
곱셈을 위한 별표(*), 나눗셈을 위한 슬래시(/), 그리고 두 값의 나눗셈에서
나머지를 구하는 데 사용되는 나머지 연산자(%)가 있습니다.
다음은 프로그램 내의 변수에 값을 할당할 때 사용하는 대입 연산자입니다.
이는 수학에서 'X는 어떤 값과 같다'라고 표현하는 것과 비슷합니다.
이 연산자들은 식별자(변수명)와 값을 연결해 줍니다.
예를 들어 'X는 5와 같다'라고 한다면, 여기서 X는 식별자가 되며 값 5와 연결됩니다.
식별자에 값을 할당하는 기본 등호(=) 외에도, 기존 변수에 값을 더하는 더하기 대입 연산자(+=), 곱셈을 수행하는 별표 대입 연산자(*=), 나눗셈을 수행하는 슬래시 대입 연산자(/=), 그리고 뺄셈을 수행하는 빼기 대입 연산자(-=) 등이 있습니다.
마지막으로 프로그램 내의 두 값이나 변수를 비교할 때 사용하는 비교 연산자에 대해 알아보겠습니다.
가장 흔히 쓰이는 비교 연산자는 두 값이 같은지 확인하는 등호 두 개(==)입니다.
또한 두 값과 데이터 타입까지 모두 같은지 확인하는 등호 세 개(===), 두 값이 서로 다른지 확인하는 '같지 않음' 연산자(!=), 두 값이 다르거나 데이터 타입이 다른지 확인하는 연산자(!==), 그리고 크다(&gt;)나 작다(&lt;)와 같이 두 숫자를 비교하는 연산자 등이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JavaScript에서 변수를 선언하는 것부터 시작해 봅시다.
Visual Studio Code를 실행한 후, 왼쪽 상단의 'File(파일)' 메뉴를 클릭하고 아래쪽에 있는 'Open folder(폴더 열기)'를 선택하세요.
이번 섹션에서 사용할 폴더를 적절한 위치에 하나 생성하면 됩니다.
저의 경우, 'Documents(문서)' 폴더 안에 'Source'라는 폴더를 만들고, 그 안에 'cars' 폴더를 만든 다음 첫 번째 섹션을 위한 폴더를 또 하나 만들었습니다.
폴더를 선택한 후, 아래에 있는 'Select folder(폴더 선택)' 버튼을 클릭하세요.
준비가 완료되었으니 이제 프로그래밍을 시작해 봅시다.
이제 왼쪽의 'Explorer(탐색기)' 영역으로 이동합니다.
마우스 오른쪽 버튼을 클릭하고 'New file(새 파일)'을 선택하여 JavaScript 파일을 생성합니다.
파일 이름을 `script.js`로 지정하고 Enter 키를 누르세요.
여기서 앞부분은 파일을 식별하는 데 사용할 '식별자(identifier)'이고,
뒤에 붙은 `.js`는 파일 형식을 지정하는 확장자입니다(JS는 JavaScript의 약자입니다).
이제 변수를 선언해 보겠습니다.
지난 강의에서 말씀드렸듯이, 세 가지 예약어(키워드)를 사용할 수 있습니다.
첫 번째는 `var`입니다. `var`를 입력하고 공백(스페이스)을 한 칸 띄우세요.
그다음 식별자를 지정할 수 있습니다.
예를 들어 `x = 5`라고 작성할 수 있습니다.
이제 `Ctrl + S`를 눌러 파일을 저장하면, 코드 끝에 세미콜론(`;`)이 자동으로 추가될 것입니다.
이는 'Prettier'라는 도구 덕분인데, 앞서 언급했듯이 파일을 저장할 때마다 문서의 형식을 자동으로 정리해 주는 도구입니다.
여기서 `var`는 'variable(변수)'의 약자입니다.
이름에서 알 수 있듯이, 값이 변할 수 있다는 뜻입니다.
즉, 처음에 할당한 값으로 고정되어 있지 않다는 의미입니다.
따라서 이 식별자에 새로운 값을 다시 할당할 수 있습니다. 두 번째 줄로 이동해서
`x = 10`이라고 입력해 봅시다.
이제 저장하면 파일 끝에 새로운 줄이 추가됩니다. 첫 번째 줄에서 x는 5라는 값을 가지지만, 두 번째 줄부터는 x가 10이라는 값을 가지게 됩니다.
자, 그럼 지금까지 우리가 무엇을 했는지 간단히 정리해 봅시다.
먼저 변수를 선언하기 위해 예약어인 `var`를 사용하고, 식별자(변수명)를 지정한 다음 값을 할당했습니다.
이 경우에는 해당 식별자가 이미 존재하므로 예약어를 다시 지정할 필요가 없습니다.
예약어는 단지 우리가 사용할 식별자를 생성하는 역할을 할 뿐이니까요.
여기서 그냥 `X`만 쓰고 세미콜론을 찍어도 됩니다.
그러면 이것은 바로 그 값을 가리키게 됩니다.
마지막으로, 세미콜론을 사용하는 것은 해당 줄의 끝을 명시하는 것입니다.
즉, 엔터키를 눌러 줄을 나눠도 코드가 정상적으로 작동한다는 뜻이죠.
보시다시피 여전히 잘 작동합니다.
만약 여기에 세미콜론을 추가하면 오류가 발생할 것입니다.
그렇다면 여기 있는 세미콜론을 지우고 저장하면 어떻게 될까요?
그렇게 하면 Prettier가 자동으로 문서의 서식을 깔끔하게 정리해 주는 것을 볼 수 있습니다.
JavaScript는 문법이 아주 엄격한 언어는 아닙니다. 그래서 세미콜론을 생략할 수 있는 것이죠.
Java 같은 다른 언어를 사용한다면 컴파일러가 오류를 발생시켜 코드가 작동하지 않을 수 있습니다.
하지만 JavaScript의 경우에는 필수가 아닙니다.
세미콜론을 사용하는 편이 더 좋은 경우도 있지만, 저는 Prettier가 알아서 처리하게 두기 때문에 따로 신경 쓸 필요가 없습니다.
`var`는 예전 방식의 변수 선언법입니다. 사실 더 새롭고 좋은 방법이 있는데, 바로 `let`을 사용하는 것입니다.
슬래시 두 개(`//`)를 입력하면 주석을 작성할 수 있는데, 주석은 일종의 설명글(문서화)일 뿐입니다.
프로그램 실행에는 아무런 영향을 미치지 않죠.
이제 `let`을 입력해 보겠습니다. `let`이 `var`보다 더 권장되는 방식입니다. 값을 재할당할 수 있다는 점은 동일합니다.
`let` 변수는 재할당할 수 있지만 같은 범위에서 재선언할 수는 없으며, `var` 대신 항상 `let`을 사용해야 한다는 점을 기억하세요.
한번 확인해 봅시다.
여기를 더블 클릭하고 `let`을 입력해 보면, 재할당이 똑같이 동작한다는 것을 알 수 있습니다.
원하는 대로 재할당할 수 있죠.
식별자를 지정하고 첫 번째 줄에서 했던 것처럼 변수를 초기화할 수도 있습니다.
하지만 변수를 선언하는 세 번째 방법이 있는데, 바로 `const`를 사용하는 것입니다.
`const`는 'constant(상수)'의 약자로, 값이 변하지 않음을 의미합니다. `let`이나 `var`를 사용할 때는 값이 변할 수 있고 나중에 재할당될 수 있는 변수를 생각하면 됩니다.
반면 `const`를 사용할 때는 상수를 떠올려야 합니다. 즉, 이 예약어를 사용하여 변수를 선언하는 순간, 그 이후에는 절대 값을 변경할 수 없다는 뜻입니다.
예를 들어, 4번째 줄로 내려가서 `const y = 5;`라고 선언한 뒤 `y = 2;`라고 하면 작동하지 않을 것입니다.
지금은 JavaScript 환경에 있습니다. 그래서 에디터가 이 코드를 오류로 표시하지 않지만, 실제로 실행하면 `TypeError`가 발생합니다.
하지만 TypeScript에서 이렇게 한다면 코드를 실행하기 전에 오류가 표시됩니다. TypeScript가 더 낫다고 볼 수 있는 부분이죠.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데이터 타입에 대해 보여드리고 싶습니다.
이 변수를 보면 `: number`라고 표시된 것을 확인할 수 있습니다.
이는 식별자에 숫자를 할당했기 때문에 편집기가 데이터 타입을 성공적으로 추론했기 때문입니다. 숫자라는 것을 인식한 것이죠.
그 이유는 이 식별자에 숫자를 할당했기 때문에, 에디터가 데이터 타입을 성공적으로 추론할 수 있었기 때문입니다.
에디터는 이것이 숫자라는 것을 인식합니다.
하지만 만약 숫자가 아닌 다른 것으로 바꾸면 어떻게 될까요?
예를 들어, 텍스트로 말이죠.
이를 위해 큰따옴표를 사용해 원하는 내용을 입력한 뒤 확인해 보면, 추론된 데이터 타입이 'string(문자열)'임을 알 수 있습니다.
첫 번째 영상에서 다뤘듯이, 문자열은 텍스트를 의미하죠.
즉, 변수 X가 문자열 타입이라는 것을 항상 확인할 수 있으므로 어느 정도 수준의 타입 안전성을 확보할 수 있다는 뜻입니다.
따라서 이 변수를 사용할 때마다 항상 문자열로 취급됩니다.
하지만 이는 전적으로 사실은 아닙니다. 적어도 자바스크립트에서는 말이죠.
여기서 변수에 다른 값을 재할당한 뒤 마우스를 올려보면, 분명 문자열이 아님에도 불구하고 여전히 문자열 타입으로 표시되는 것을 볼 수 있습니다.
이것은 명백히 숫자이며, 자바스크립트에서는 완전히 유효한 코드입니다.
만약 이 코드를 복사해서 타입스크립트(TypeScript)에 붙여넣는다면, 문자열 타입에 숫자를 할당할 수 없다는 오류가 발생할 것입니다.
이것이 바로 자바스크립트가 가진 가장 큰 문제점 중 하나입니다.
이제 상수(constant)를 살펴보겠습니다.
여기에 마우스를 올려보면 타입이 '5'로 표시되는 것을 볼 수 있는데, 이는 상수이기 때문에 값이 절대 변하지 않는다는 것을 에디터가 알고 있기 때문입니다.
값이 5라면 어떤 상황에서도 계속 5로 유지될 것임을 인식하는 것이죠.
그렇기 때문에 `let`이나 `var`로 선언했을 때처럼 단순히 'number(숫자)' 타입이라고 표시하지 않는 것입니다. 지금까지 우리는 JavaScript의 몇 가지 주요 문제점을 확인했습니다. 그중 하나는 느슨한 타입 시스템(loosely typed system)입니다. 예를 들어, 변수에 문자열을 할당했다가 나중에 숫자로 다시 할당할 수 있는데, 이는 실제 서비스 환경(프로덕션)에서 사용할 경우 매우 혼란스러운 상황을 초래할 수 있습니다.
하지만 JavaScript는 본질적으로 오류가 발생하기 쉬운 언어입니다.
그렇기 때문에 이 강의 전체에서 TypeScript를 사용하는 것입니다.
지금은 아주 기초적인 부분만 살펴봤지만, TypeScript를 사용함으로써 예방할 수 있는 버그의 양은 상당합니다.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변수를 보면 `: number`라고 표시된 것을 확인할 수 있습니다.
이는 식별자에 숫자를 할당했기 때문에 편집기가 데이터 타입을 성공적으로 추론했기 때문입니다. 숫자라는 것을 인식한 것이죠.
그 이유는 이 식별자에 숫자를 할당했기 때문에, 에디터가 데이터 타입을 성공적으로 추론할 수 있었기 때문입니다.
에디터는 이것이 숫자라는 것을 인식합니다.
하지만 만약 숫자가 아닌 다른 것으로 바꾸면 어떻게 될까요?
예를 들어, 텍스트로 말이죠.
이를 위해 큰따옴표를 사용해 원하는 내용을 입력한 뒤 확인해 보면, 추론된 데이터 타입이 'string(문자열)'임을 알 수 있습니다.
첫 번째 영상에서 다뤘듯이, 문자열은 텍스트를 의미하죠.
즉, 변수 X가 문자열 타입이라는 것을 항상 확인할 수 있으므로 어느 정도 수준의 타입 안전성을 확보할 수 있다는 뜻입니다.
따라서 이 변수를 사용할 때마다 항상 문자열로 취급됩니다.
하지만 이는 전적으로 사실은 아닙니다. 적어도 자바스크립트에서는 말이죠.
여기서 변수에 다른 값을 재할당한 뒤 마우스를 올려보면, 분명 문자열이 아님에도 불구하고 여전히 문자열 타입으로 표시되는 것을 볼 수 있습니다.
이것은 명백히 숫자이며, 자바스크립트에서는 완전히 유효한 코드입니다.
만약 이 코드를 복사해서 타입스크립트(TypeScript)에 붙여넣는다면, 문자열 타입에 숫자를 할당할 수 없다는 오류가 발생할 것입니다.
이것이 바로 자바스크립트가 가진 가장 큰 문제점 중 하나입니다.
이제 상수(constant)를 살펴보겠습니다.
여기에 마우스를 올려보면 타입이 '5'로 표시되는 것을 볼 수 있는데, 이는 상수이기 때문에 값이 절대 변하지 않는다는 것을 에디터가 알고 있기 때문입니다.
값이 5라면 어떤 상황에서도 계속 5로 유지될 것임을 인식하는 것이죠.
그렇기 때문에 `let`이나 `var`로 선언했을 때처럼 단순히 'number(숫자)' 타입이라고 표시하지 않는 것입니다. 지금까지 우리는 JavaScript의 몇 가지 주요 문제점을 확인했습니다. 그중 하나는 느슨한 타입 시스템(loosely typed system)입니다. 예를 들어, 변수에 문자열을 할당했다가 나중에 숫자로 다시 할당할 수 있는데, 이는 실제 서비스 환경(프로덕션)에서 사용할 경우 매우 혼란스러운 상황을 초래할 수 있습니다.
이제 TypeScript로 들어가기 전에 마지막으로 한 가지를 보여드리겠습니다.
두 번째 줄로 와서 이 변수 위에 마우스를 올려보면 이것이 true로 추론되는 것을 볼 수 있습니다.
그리고 그것은 맞습니다. 우리가 이 값을 사용해 선언했기 때문입니다.
그런데 const 대신 let을 사용하면 어떨까요?
이 경우 한번 보겠습니다.
let x = true라고 하고 x 위에 마우스를 올려봅니다.
실제로 boolean이라는 것을 볼 수 있습니다.
왜 그럴까요?
const는 상수이므로 절대로 변경되지 않는다는 것을 알고 있기 때문입니다.
따라서 실제로 내부에서 TypeScript를 사용하고 있는 에디터는 이 변수가 항상 true일 것이라고 추론할 수 있습니다.
반면 이것을 let으로 선언했기 때문에, 할당된 값의 타입을 찾으려고 합니다.
이 경우 값이 true입니다.
true는 boolean에 속합니다.
따라서 x는 true 또는 false여야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변수 선언과 관련된 몇 가지 관례에 대해 이야기해 보겠습니다.
우선, 모든 변수는 항상 `const`로 선언하는 것이 좋습니다.
초보자들은 어디서나 `let`을 사용하는 경향이 있습니다.
하지만 왜 그것이 최선의 방법이 아닌지 보여드리겠습니다.
먼저, 이 코드를 모두 지워보겠습니다.
숫자를 저장하는 변수를 선언한다고 가정해 봅시다.
`X`를 5로 설정해 보겠습니다.
나중에 `X`를 10으로 재할당한다면 `let`을 사용하는 것이 타당할 수 있습니다.
하지만 만약 다시 할당할 일이 전혀 없다면 어떨까요?
문제는 `let` 키워드가 재할당이 가능한 변수임을 나타낸다는 점입니다.
따라서 `let`으로 선언된 변수를 마주칠 때마다, 우리는 이 변수가 언제 다시 할당될지,
혹은 정말로 다시 할당되기는 할지 의문을 갖게 될 수 있습니다.
그렇기 때문에 저는 `let` 대신 모든 것을 `const`로 선언할 것을 권장합니다.
그렇게 하면 코드를 읽는 사람이나 심지어 자기 자신에게도 이 변수를 다시 할당하지 않겠다는
의사를 명확히 전달하여, 재할당 시점에 대한 불필요한 의문을 없앨 수 있습니다.
이는 프로그래밍에서 가장 중요한 요소 중 하나인 유지보수성, 명확성, 가독성을 높이는 데 도움이 됩니다.
물론 변수를 다시 할당해야 할 필요가 생긴다면, 그때 `const`를 `let`으로 바꾸면 됩니다.
하지만 일관성을 유지하기 위해 항상 모든 것을 `const`로 선언하는 습관을 들이세요.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변수 명명(naming)과 관련된 다양한 관례를 살펴보겠습니다.
카멜 케이스(camel case), 파스칼 케이스(Pascal case), 그리고 스네이크 케이스(snake case)가 있습니다.
이것들이 가장 흔히 사용되는 방식들입니다.
카멜 케이스의 경우, 여러 단어를 공백 없이 이어 붙이되, 첫 번째 단어(여기서는 'camel')를 제외한 각 단어의 첫 글자를 대문자로 표기합니다.
예를 들어, `camelCase`와 같이 선언할 수 있겠죠. 값을 5로 설정하거나, `numberOfStudents`처럼 말이죠.
여기서는 첫 번째 단어를 제외한 나머지 단어들의 첫 글자가 대문자로 표기되었습니다. PascalCase(파스칼 케이스)도 있는데, 이는 CamelCase(카멜 케이스)와 거의 동일하지만 첫 글자를 대문자로 쓴다는 점이 다릅니다. 또한 SnakeCase(스네이크 케이스)도 있는데, 이는 모든 글자를 소문자로 쓰되 단어 사이를 밑줄(underscore)로 구분하는 방식입니다. JavaScript나 TypeScript 프로그래밍에서는 주로 CamelCase와 PascalCase를 사용하지만, SnakeCase를 선택하는 경우도 간혹 있습니다. 이에 대해서는 나중에 다루겠습니다.
하지만 일반적인 원칙으로는 CamelCase를 사용하는 것이 좋습니다.
PascalCase를 언제 사용하는지에 대해서도 추후에 알아보겠습니다.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식별자(identifier)로 사용할 수 있는 문자에 대해 이야기해 봅시다.
가장 먼저 떠오르는 것은 공백(space)일 수 있습니다. 예를 들어, 공백을 포함해 `my name`과 같이 변수명을 짓고 싶을 수도 있겠지만, 이는 유효하지 않습니다.
등호(=)를 사용하는 것도 마찬가지로 불가능합니다.
`my name = something`과 같은 식은 사용할 수 없는데, 이는 등호가 대입 연산자이므로 식별자에 사용할 수 없기 때문입니다.
하지만 식별자에 밑줄(_)이나 달러 기호($)는 사용할 수 있습니다.
숫자를 변수명의 맨 앞에 사용할 수는 없습니다.
예를 들어 `3myname`과 같이 쓰면 유효하지 않지만, 숫자 1을 끝이나 중간, 혹은 첫 글자 바로 뒤에 넣는다면 유효합니다.
그리고 아주 중요한 점은 변수명이 대소문자를 구분한다는 것입니다.
즉, `const y = 5;`라고 선언한 뒤 `const Y = 10;`이라고 선언할 수 있다는 뜻입니다.
이 두 변수는 서로 다르기 때문에 유효한 선언입니다. 이것이 바로 대소문자 구분(case sensitivity)의 특징입니다.
하지만 완전히 동일한 식별자로 변수를 다시 선언하면 어떻게 될까요?
그렇게 하면 유효하지 않은 코드가 됩니다. 이미 선언된 변수이기 때문입니다.
따라서 똑같은 식별자를 중복해서 사용할 수 없습니다.
이 부분에 대해서는 나중에 더 자세히 알아보겠습니다.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TypeScript의 원시 타입과 유니온부터 시작해 보겠습니다.
첫 번째는 Boolean입니다.
Boolean은 단순히 true입니다.
또는 false이고, 이것은 단지 논리값을 표현하는 것입니다.
그렇다면 이것을 어떻게 사용할 수 있을까요?
여기에 와서 const true = true라고 입력하면, true가 예약어라는 것을 볼 수 있습니다.
이것은 변수의 식별자로 사용할 수 없다는 뜻입니다.
한번 해보겠습니다.
여기 아래로 내려와서 const true = true라고 입력할 수 있습니다.
그러면 오류가 발생하고, true는 변수 선언 이름으로 허용되지 않는다고 표시됩니다.
그리고 false에도 똑같이 적용됩니다.
그래서 const false를 해보겠습니다.
대소문자를 구분한다는 것을 기억하세요. 이것을 false와 같게 합니다.
이것은 동작하지만, 여기 아래로 와서 const false = false라고 하면 정확히 같은 오류가 발생합니다.
이제 예약어를 사용할 수 없다는 것이 실제로 어떻게 동작하는지 봤으므로, 이 두 줄을 삭제할 수 있습니다.
이제 숫자를 살펴보겠습니다.
숫자는 양수, 음수 또는 소수일 수도 있습니다.
JavaScript보다 더 저수준인 다른 언어들에서는 각각을 표현하는 데이터 타입이 있을 수 있습니다.
예를 들어 Java나 C#에서는 소수가 double이나 float일 수 있습니다.
JavaScript가 이 모든 데이터 타입을 하나의 데이터 타입으로 묶는 이유는 JavaScript가 매우 고수준 언어이기 때문입니다.
나중에 다른 언어를 배우기 시작한다면, 이것은 아주 좋은 출발점이 될 것입니다. 이제 개발자가 알아야 할 매우 중요한 이러한 데이터 타입들을 접하고 있기 때문입니다.
그렇다면 숫자는 어떻게 입력할까요?
여기에 와서 const five = 5라고 하면 됩니다. 꽤 간단합니다.
음수는 어떨까요?
앞에 단순히 마이너스 기호를 붙이면 됩니다.
소수는 어떨까요?
점을 사용합니다.
그래서 .3입니다.
그런데 너무 큰 숫자는 어떨까요?
우리는 언어와 출신 지역에 따라 숫자를 읽기 쉽게 하기 위해 값에는 영향을 주지 않는 구분자를 추가하는 데 익숙합니다.
예를 들어 영어에서는 5,000이나 5,000,000과 같은 숫자를 쉼표를 이용해 표시하는 것이 일반적입니다.
그렇다면 JavaScript에서는 이것을 어떻게 할 수 있을까요?
쉼표를 사용할 수 없고, 점은 소수를 위한 것이라는 것을 알고 있습니다.
이를 위해 밑줄을 사용할 수 있습니다.
그래서 const hugeNumber = 5_000과 같이 할 수 있습니다.
이것은 값을 변경하지 않습니다.
사실 이것은 밑줄 없이 5000이라고 하는 것과 같습니다.
기억하세요. 이것은 표시를 위한 것입니다.
값은 여전히 5000입니다.
참고로 JavaScript의 원시 타입에는 이 밖에도 아주 큰 정수를 다루는 bigint와 고유한 값을 만드는 symbol이 있어, 모두 7가지입니다.
이것들은 여러분이 앞으로 다루게 될 모든 것의 기둥입니다.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문자열을 살펴보겠습니다.
JavaScript에서 문자열은 여러 종류의 문자로 표현할 수 있습니다.
앞에서 본 것처럼 큰따옴표를 사용할 수 있고, 작은따옴표를 사용할 수도 있으며, 백틱도 사용할 수 있습니다.
이 두 개는 같습니다.
정확히 같은 동작을 하지만, 백틱을 사용하는 이것은 여전히 문자열이면서 template string이라는 것을 사용할 수 있습니다. 이것은 나중에 보겠습니다.
한번 해보겠습니다.
여기 아래로 내려와 const doubleQuotes =라고 하고 큰따옴표를 입력한 다음 원하는 텍스트를 입력할 수 있습니다.
그래서 문자열은 단순히 텍스트라는 것을 볼 수 있습니다.
이것은 어떨까요?
작은따옴표입니다.
그리고 정확히 같은 것을 할 수 있습니다.
그렇다면 언제 큰따옴표를 사용하고 언제 작은따옴표를 사용해야 할까요?
둘은 정확히 같은 동작을 하기 때문에 이것은 여러분에게 달려 있습니다.
둘 다 문자열을 나타냅니다.
코딩 스타일에 따라 달라집니다.
저는 큰따옴표를 선호합니다. 그 이유는 대부분의 언어가 문자열을 표현할 때 큰따옴표를 사용하고, 다른 일부 언어들, 특히 더 저수준인 언어들은 하나의 문자를 표현하기 위해 작은따옴표를 사용하기 때문입니다.
JavaScript의 경우 이 두 가지가 같다는 것을 볼 수 있습니다.
하지만 세미콜론이 필수가 아닌 것과 마찬가지로, 저는 Prettier가 이 작업을 대신하게 합니다.
여기에서 Settings로 들어가고 이 페이지로 이동한 다음 Prettier 설정이 있는 곳까지 아래로 내려가면, 제가 Prettier의 single quote를 false로 지정한 것을 볼 수 있습니다.
이것은 Prettier가 문자열에 작은따옴표 규칙을 적용하지 않는다는 뜻입니다.
즉 작은따옴표 대신 큰따옴표를 사용합니다.
다시 이 파일로 돌아가서 Ctrl + S를 눌러 파일을 저장하면, 세미콜론을 추가했을 뿐만 아니라 작은따옴표를 큰따옴표로 바꾼 것을 볼 수 있습니다.
그리고 이것은 일관성을 위해 매우 중요합니다.
정확히 같은 일을 하는 방법이 천 가지씩 있는 코드베이스에 들어가고 싶지는 않을 것입니다.
일관성을 유지하는 것은 매우 중요합니다.
그렇다면 백틱은 어떨까요?
여기에 와서 const backticks =라고 하고 같은 내용을 입력한 다음 Ctrl + S를 누르면, 이것은 바뀌지 않습니다.
그 이유는 백틱에는 다른 특별한 목적이 있기 때문입니다.
그래서 Prettier는 이 백틱을 변경하도록 설정되어 있지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undefined가 있습니다.
그렇다면 undefined란 무엇일까요?
단순히 초기화되지 않은 변수가 가지는 값입니다.
그렇다면 초기화되었다는 것은 무엇을 의미할까요?
이것들은 모두 초기화된 변수입니다. 다시 말해 값이 할당된 변수입니다.
그렇다면 초기화되지 않은 변수는 어떻게 볼 수 있을까요?
단순히 let nonInitialized;라고 할 수 있습니다.
이 변수 위에 마우스를 올려보면 타입이 any인 것을 볼 수 있습니다.
이것은 나중에 살펴보겠습니다.
하지만 여기에서는 실제로 undefined라는 점을 알아두는 것이 중요합니다.
이것이 유용한 이유는 어떤 변수를 undefined 상태로 두고, 나중에 특정 조건에 따라 값을 정의하고 싶을 수 있기 때문입니다.
하지만 이것 역시 예약어입니다.
이것을 직접 사용할 수도 있습니다.
조금 이상해 보이겠지만 실제로 = undefined라고 할 수 있습니다.
이것은 undefined라는 값을 나타내기는 하지만, 이렇게 사용하는 것은 실제로 권장되지 않습니다.
그냥 아무 값도 할당하지 않은 상태로 두세요.
이제 undefined가 어떻게 동작하는지 봤으므로 마지막으로 null을 보겠습니다.
null은 undefined와 비교했을 때 약간 혼란스러울 수 있지만, 단순히 값이 없다는 것을 의미합니다.
undefined에서는 값을 정의하지 않습니다. 그래서 undefined입니다.
반면 null은 초기화되었지만 값을 가지고 있지 않은 변수입니다. 즉 값이 없다는 뜻입니다.
실제로 보겠습니다.
const y = null이라고 할 수 있습니다.
이제 y 위에 마우스를 올려보면 타입이 null인 것을 볼 수 있습니다.
따라서 null을 사용함으로써 이 변수가 값을 가지고 있지 않거나 명시적으로 아무것도 없는 상태로 설정되었다는 것을 나타냅니다.
나중에 null을 어떻게 사용할 수 있는지, 그리고 왜 undefined를 사용하는지도 살펴보겠습니다.
하지만 지금은 null 데이터 타입과 undefined 데이터 타입, 그리고 물론 이 세 가지 데이터 타입이 있다는 것을 이해하세요.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줄을 삭제하고 데이터 타입을 명시적으로 선언하는 방법을 보여드리겠습니다.
이것은 오직 TypeScript에만 존재하는 기능입니다.
이 예제를 보겠습니다.
이 변수가 undefined이기를 원하고, 특정 조건이 true라면 숫자를 가지도록 하고 싶다고 해보겠습니다.
TypeScript를 사용해 이것을 어떻게 타입으로 표현할 수 있을까요?
먼저 이것이 any 타입이라는 것을 볼 수 있습니다.
any는 TypeScript 세계에 존재하는 것으로, 기본적으로 JavaScript가 의존하는 것과 같습니다.
이것은 본질적으로 이 변수가 어떤 값이든 가질 수 있다는 뜻입니다.
앞에서 x = 5라고 했던 것과 같습니다.
그 경우 오류가 발생했지만, 여기에 와서 nonInitialized를 숫자로 설정하면 유효합니다.
그다음 문자열로 설정해도 유효합니다.
그 이유는 TypeScript가 이 변수를 undefined로 타입 지정하는 대신 any에 의존하기 때문입니다.
하지만 이것은 기본 동작으로 사용해서는 안 됩니다.
그래서 여기에 와서 콜론을 쓰고 undefined라고 적을 수 있습니다.
이렇게 하면 이 변수가 undefined 타입이 될 것이라고 TypeScript에 명시적으로 알려주는 것입니다.
그렇다면 이 문법은 어디에서 온 것일까요?
어떤 변수 위에 마우스를 올려보면 여기에서 볼 수 있습니다.
이것은 에디터가 자동으로 추론한 것입니다.
그리고 앞서 말했듯이 에디터는 내부적으로 TypeScript를 사용합니다.
그렇기 때문에 데이터 타입과 관련된 일종의 IntelliSense를 얻을 수 있습니다.
하지만 다시 이 예제로 돌아와서 특정 조건이 참이라면 이 변수가 숫자가 되기를 원한다고 해보겠습니다.
아직 조건문이 어떻게 동작하는지는 보여드리지 않겠지만, 이것이 10이 20보다 크다면 이 변수는 이 값을 가져야 한다라는 조건문 안에 있다고 상상해 봅시다.
물론 TypeScript는 지금 오류를 표시하고 있습니다.
단순히 이 타입 주석을 삭제할 수도 있습니다.
그렇게 하면 any에 의존하게 됩니다.
하지만 다시 말하지만 이것은 권장되지 않습니다.
그렇다면 TypeScript를 왜 사용하겠습니까?
JavaScript는 이미 모든 것에 any를 사용합니다.
이를 위해 union type이라고 하는 것을 사용할 수 있습니다.
여기에 union type이라고 입력하겠습니다.
이것은 하나의 변수가 여러 타입이 될 수 있다는 뜻입니다.
여기에 와서 number | undefined라고 하면 유효합니다.
보시다시피 그렇습니다.
여기에 마우스를 올려보면 number | undefined라고 표시됩니다.
이것은 바로 제가 앞의 주석에서 사용했던 것과 같은 문자입니다.
이 연산자는 여러 번 사용할 수 있습니다.
실제로 이 변수가 숫자이거나, undefined이거나, 문자열이거나, 심지어 boolean일 수 있다고 지정할 수 있습니다.
이렇게 계속 연결하면 됩니다.
이제 전달하는 데이터 타입이나 값이 이러한 데이터 타입 중 하나이기만 하면 할당할 수 있습니다.
여기에 와서 undefined를 넣을 수 있습니다.
이것은 유효합니다.
문자열도 가능합니다.
true나 false도 가능합니다.
그런데 null을 전달하면 어떻게 될까요?
보시다시피 오류가 발생합니다.
이제 유니온 타입이 어떻게 동작하는지와 이 모든 원시 데이터 타입을 살펴봤으므로, null 데이터 타입을 추가해서 이것을 수정해 보세요.
한번 해보세요.
해결 방법은 간단합니다.
그냥 | null을 추가하면 됩니다.
기억하세요. null도 undefined와 마찬가지로 데이터 타입입니다.
이제 한 가지를 해보겠습니다.
이 모든 코드를 복사해서 JavaScript 파일에 붙여넣어 보겠습니다.
그렇게 하면 즉시 한 가지를 알아차릴 수 있습니다.
오류가 발생합니다.
타입 주석은 TypeScript 파일에서만 사용할 수 있다고 합니다.
그리고 이것은 제가 여러분이 이해하기를 바라는 매우 중요한 내용입니다.
TypeScript는 JavaScript 위에 구축되어 있습니다.
따라서 JavaScript에서 할 수 있는 모든 것은 TypeScript에서도 할 수 있습니다.
하지만 TypeScript는 JavaScript의 상위 집합이고, 분명히 가장 큰 차이는 타입 시스템입니다.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영상을 마치기 전에 다시 TypeScript 파일로 돌아와서 any를 사용하는 방법을 보여드리겠습니다.
any는 TypeScript에서 빠져나가는 방법입니다.
다른 타입 주석들과 달리 이것은 타입 검사를 사실상 끄고 JavaScript 세계로 들어가는 방법입니다.
사용하려면 let z: any = 5라고 할 수 있습니다.
그다음 z = true라고 할 수 있습니다.
그다음 z를 문자열과 같게 할 수도 있습니다.
이것은 TypeScript에 있는 기능입니다.
하지만 절대로 사용해서는 안 됩니다.
좋지 않은 관행이며 any 사용은 피해야 합니다.
이제 이것을 말했으니 다음 강의로 넘어가겠습니다.
TypeScript를 사용해 이것을 어떻게 타입으로 표현할 수 있을까요?
먼저 이것이 any 타입이라는 것을 볼 수 있습니다.
any는 TypeScript 세계에 존재하는 것으로, 기본적으로 JavaScript가 의존하는 것과 같습니다.
이것은 본질적으로 이 변수가 어떤 값이든 가질 수 있다는 뜻입니다.
앞에서 x = 5라고 했던 것과 같습니다.
그 경우 오류가 발생했지만, 여기에 와서 nonInitialized를 숫자로 설정하면 유효합니다.
그다음 문자열로 설정해도 유효합니다.
그 이유는 TypeScript가 이 변수를 undefined로 타입 지정하는 대신 any에 의존하기 때문입니다.
하지만 이것은 기본 동작으로 사용해서는 안 됩니다.
그래서 여기에 와서 콜론을 쓰고 undefined라고 적을 수 있습니다.
이렇게 하면 이 변수가 undefined 타입이 될 것이라고 TypeScript에 명시적으로 알려주는 것입니다.
그렇다면 이 문법은 어디에서 온 것일까요?
어떤 변수 위에 마우스를 올려보면 여기에서 볼 수 있습니다.
이것은 에디터가 자동으로 추론한 것입니다.
그리고 앞서 말했듯이 에디터는 내부적으로 TypeScript를 사용합니다.
그렇기 때문에 데이터 타입과 관련된 일종의 IntelliSense를 얻을 수 있습니다.
하지만 다시 이 예제로 돌아와서 특정 조건이 참이라면 이 변수가 숫자가 되기를 원한다고 해보겠습니다.
아직 조건문이 어떻게 동작하는지는 보여드리지 않겠지만, 이것이 10이 20보다 크다면 이 변수는 이 값을 가져야 한다라는 조건문 안에 있다고 상상해 봅시다.
물론 TypeScript는 지금 오류를 표시하고 있습니다.
단순히 이 타입 주석을 삭제할 수도 있습니다.
그렇게 하면 any에 의존하게 됩니다.
하지만 다시 말하지만 이것은 권장되지 않습니다.
그렇다면 TypeScript를 왜 사용하겠습니까?
JavaScript는 이미 모든 것에 any를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Challenge: Primitive Types and Unions여러분에게 몇 가지 간단한 과제를 준비했습니다.
쉬워 보일 수도 있겠지만요.
이 과제들의 목표는 여러분이 시작을 돕고 문법에 익숙해지도록 하는 것입니다.
첫 번째 과제부터 시작해 봅시다.
문자열(string) 타입의 변수를 선언해 보세요.
한번 시도해 보세요.
꽤 간단한 과제입니다.
`let`이나 `const`를 사용할 수 있지만, `var`는 사용하지 않도록 주의하세요.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이렇게 할 수 있겠죠.
`x`를 빈 문자열로 선언합니다.
이제 이 변수에 마우스를 올려보면 타입이 `string`인 것을 확인할 수 있습니다.
하지만 `const`를 사용한다면, 내부적으로 TypeScript를 사용하는 에디터가 타입을 더 구체적으로 좁힐(narrow down) 수 있습니다. `const`는 한 번 선언하면 절대 변하지 않는 상수라는 것을 에디터가 알기 때문이죠.
따라서 타입은 '빈 문자열'이 되며, 이는 유효한 코드입니다.
하지만 이 과제들의 취지는 JavaScript뿐만 아니라 TypeScript의 문법에도 익숙해지는 것입니다.
그러니 이번에는 타입을 명시적으로 선언해 볼 수 있습니다.
이렇게 하면 변수에 직접 지정한 타입이 (자동으로) 추론된 타입을 덮어쓰는 셈이 됩니다.
보시다시피, 이제 타입은 단순히 '빈 문자열'이 아닙니다.
그렇다면 이게 정말 맞는 말일까요?
꼭 그렇지는 않습니다. 실제 타입은 여전히 빈 문자열이니까요.
그래서 변수를 초기화할 때는 TypeScript가 알아서 타입을 추론하도록 맡기는 것이 가장 좋습니다.
하지만 지금은 타입 시스템이 어떻게 작동하는지 익히기 위해 명시적으로 선언해 봅시다.
다음 과제로 넘어가겠습니다.
문자열(string)이나 숫자(number)가 될 수 있는 변수를 선언해 보세요.
'유니언 타입(union types)'을 기억하고 시도해 보세요.
아주 기초적인 내용입니다.
`y`를 `string` 또는 `number` 타입으로 선언할 수 있습니다.
여기서 `|` 기호는 '또는(or)'을 의미하며, 숫자로도 문자열로도 선언할 수 있게 해줍니다.
그럼 한번 시도해 봅시다. 숫자나 문자열의 경우 잘 작동하는 것을 확인할 수 있습니다.
하지만 이를 `null`로 설정하려고 하면 오류가 발생합니다.
이 부분은 확인했으니, 다음 단계로 넘어가 보겠습니다.
문자열(string)이나 `null`이 될 수 있는 변수를 선언해 봅시다.
이번에도 간단히 `const Z`를 `string` 또는 `null` 타입으로 지정하고 `null`로 초기화할 수 있습니다.
마지막으로, 초기화하지 않은 `string` 타입의 변수를 선언해 보겠습니다.
직접 시도해 보세요.
이 경우, `let a`라고만 쓰고 그대로 두면 타입이 추론되거나
기본적으로 `any` 타입으로 설정된다는 점을 기억해야 합니다.
하지만 우리가 원하는 것은 그런 결과가 아닙니다.
`a`에 문자열을 할당할 수는 있겠지만, 타입이 `any`가 되면 모든 타입 안전성을 잃게 됩니다.
우리는 이 변수에 오직 문자열만 전달되기를 원하므로 타입을 명시적으로 선언해야 합니다.
따라서 여기에서 타입을 `string`으로 지정할 수 있습니다.
하지만 이것이 올바른 해결책은 아닙니다. 왜냐하면 11번째 줄에서 실제 값은 `undefined`이지
`string` 타입이 아니기 때문입니다.
즉, 문자열만 담아야 한다는 것을 알면서도 실제로는 `undefined`인 상태를 허용함으로써 스스로에게 거짓말을 하는 셈이 됩니다.
따라서 코드에서 오류가 발생하지 않도록 `string` 또는 `undefined`와 같은 유니언 타입(union type)을 사용해야 합니다.
이렇게 하면 이 타입이 어떤 값을 담아야 하는지 명확하게 표현할 수 있습니다.
하지만 한 가지 짚고 넘어가고 싶은 점이 있습니다. 만약 이 줄을 지우고 `undefined` 부분도 제거한 뒤
이 변수를 사용하려고 하면 오류가 발생합니다.
'변수 A가 할당되기 전에 사용되었다(Variable 'a' is used before being assigned)'는 메시지가 뜹니다.
다행히 이런 도움을 받을 수는 있지만, 결정은 여러분의 몫입니다.
`string`으로 둘 수도 있고, `string`과 `undefined`의 유니언 타입으로 설정할 수도 있습니다.
이에 대해서는 나중에 더 자세히 알아보겠습니다.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산술 연산자를 살펴보겠습니다.
두 개의 상수를 정의해 봅시다.
X는 5, Y는 10으로 설정하고, 이 두 상수를 사용하여 수학적 연산을 수행할 수 있습니다.
먼저 두 값을 더해 보겠습니다.
이제 다른 연산들도 시도해 봅시다.
`const difference = x - Y;`를 하면 차이값이 -5가 되는 것을 볼 수 있습니다.
곱셈도 마찬가지입니다.
두 값의 곱은 50이 되고, 나눗셈, 그리고 나눗셈 후의 나머지를 구하는 모듈로(modulo) 연산도 있습니다.
보시다시피,
나머지를 구하면 5가 됩니다.
마지막으로 거듭제곱 연산이 있습니다.
거듭제곱을 할 때 캐럿(^) 기호가 익숙할 수도 있겠지만, JavaScript에서 캐럿은 비트 연산자를 의미합니다(이 과정에서는 다루지 않는 내용입니다).
한번 시도해 봅시다.
`const Power`를 선언합니다.
결과는 꽤 큰 숫자가 나옵니다.
하지만 만약 캐럿 기호를 사용하여 `x ^ y`와 같이 비트 연산을 수행하면 어떻게 될까요?
결과를 확인해 보면 15가 나옵니다.
이것이 바로 거듭제곱 연산자를 기억해야 하는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비트 연산자와 관련하여 산술 연산자에서 매우 중요한 점은, 숫자(number) 타입이 아닌 값에는 이러한 연산을 수행할 수 없다는 것입니다.
당연한 이야기처럼 들릴 수 있겠지만, JavaScript에서는 숫자 타입이 아닌 값에 대해서도 실제로 이러한 연산을 수행할 수 있으며, 물론 원치 않는 결과를 얻게 됩니다.
한번 시도해 봅시다.
만약 문자열(string)을 사용하여 빈 문자열을 숫자에 더하려고 하면 어떻게 될까요? 이렇게 하면 결과가 문자열 "5"가 되는 것을 확인할 수 있습니다.
왜 그럴까요?
숫자 5가 문자열로 변환된 뒤 빈 문자열과 연결되기 때문입니다.
즉, 해당 값을 다른 타입으로 강제 변환(coercion)하는 것이죠.
프로그래밍에서 강제 변환이란 한 데이터 타입의 값을 다른 데이터 타입으로 바꾸는 것을 의미합니다.
예를 들어 숫자 5를 사용하면, 덧셈을 수행하기 위해 숫자 5를 문자열(string)로 강제 변환하게 됩니다.
숫자가 아닌 문자를 더하면 어떻게 될까요?
'ASD' 같은 경우를 보면, 두 값을 연결(concatenate)하여 하나의 문자열로 합치는 것을 알 수 있습니다.
하지만 이 문자열에 숫자를 곱하거나 나누면 어떻게 될까요?
그렇게 하면 'NaN(Not a Number)'이 반환되며, TypeScript는 산술 연산의 좌측 피연산자가 number, bigint, 또는 enum 타입이어야 한다는 에러를 발생시킵니다.
이것은 TypeScript에서 발생하는 현상입니다.
만약 이 코드를 복사해서 JavaScript에서 실행한다면,
에러가 발생하지 않을 것입니다.
완전히 유효한 코드로 간주되죠.
이런 에러가 발생하는 이유는 더하기(+) 기호가 단순히 숫자 간의 덧셈뿐만 아니라 문자열을 연결하는 데에도 사용되기 때문입니다.
예를 들어 'ASD'를 사용하면 보시다시피 두 문자열이 단순히 연결됩니다.
하지만 문자열 연결에 사용할 수 없는 다른 연산자를 사용하면 'NaN(Not a Number)'이라는 결과가 나오는데, 과연 NaN이란 정확히 무엇일까요?
다시 코드를 작성하고 해당 변수에 마우스를 올려보겠습니다.
변수 타입이 number(숫자)임을 확인할 수 있습니다.
뿐만 아니라, 이를 하나의 값으로 사용할 수도 있습니다.
즉, `const Z = NaN;`과 같이 작성하는 것이 가능합니다. 다시 한번 Z에 마우스를 올려보면 그 타입이 'number'임을 확인할 수 있습니다. 여기서 'NaN(Not a Number)'은 단순히 숫자로 표현할 수 없는 값을 나타내는 자리표시자(placeholder)일 뿐, 여전히 'number' 타입에 해당합니다.
이 부분은 꽤 혼란스러울 수 있지만, TypeScript를 사용한다면 이런 문제를 겪을 일이 크게 줄어듭니다.
더하기 기호(+)는 두 숫자의 합을 나타낼 뿐만 아니라 두 문자열을 연결하는 데에도 사용될 수 있어서 다소 혼동을 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더하기 기호(+)는 두 숫자의 합을 나타낼 뿐만 아니라 두 문자열을 연결하는 데에도 사용될 수 있어서 다소 혼동을 줄 수 있습니다.
그래서 저는 문자열을 연결할 때 더하기 연산자 대신 항상 템플릿 리터럴(template literals)을 사용하는 편입니다.
그렇다면 템플릿 리터럴이란 무엇일까요?
앞서 JavaScript에서 문자열을 표현하는 세 가지 방법이 있다고 말씀드렸던 것을 기억하시나요?
첫 번째는 큰따옴표, 두 번째는 작은따옴표, 그리고 마지막은 백틱(backtick)을 사용하는 방법입니다.
백틱을 사용하면 그 안에서 달러 기호($)와 중괄호({})를 활용할 수 있습니다.
이것은 문자열 내부에서 일종의 탈출(escape) 기능을 하여 우리가 원하는 값을 전달할 수 있게 해주며, 전달된 값은 자동으로 문자열로 변환됩니다. 예를 들어 `${x} ${y}`와 같은 식으로 임의의 값을 넣을 수 있죠.
여기서는 `125`를 넣어보겠습니다. 이렇게 하면 이 모든 요소가 하나의 문자열로 합쳐집니다.
그럼 결과를 어떻게 확인할 수 있을까요?
변수에 할당한 뒤 여기서 했던 것처럼 사용할 수도 있습니다.
하지만 다른 방법도 있는데, 바로 콘솔에 로그를 남기거나 출력하는 것입니다.
어떻게 하면 될까요?
`console.log`를 입력하고 괄호 안에 해당 값을 전달하면 됩니다.
그러면 터미널이나 콘솔에 결과가 표시됩니다.
지금의 경우, 우리가 직접 코드를 실행하여 콘솔을 확인하는 것은 아닙니다.
결과를 가져와서 에디터 화면에 표시해 주는 것이죠. 여기서는 수동으로 작업을 수행하고 있으며, 보시다시피 '5 10 125'라는 결과가 나옵니다.
하지만 이것이 실제로 문자열(string) 타입인지 어떻게 확인할 수 있을까요?
그럴 때는...
이 결과들을 복사해 볼 수 있습니다.
`const x`를 이 값으로 설정하고 `x` 위에 마우스를 올려보면, 타입이 문자열(string)임을 확인할 수 있습니다.
이제 에러가 발생합니다.
이미 `x`를 사용 중이라고 나오므로, 예를 들어 `L`이라는 변수명을 사용할 수 있습니다.
이렇게 하면 타입이 문자열임을 확인할 수 있습니다.
이는 `console.log(x + Y + 125)`를 사용하는 것의 대안이 됩니다.
이 경우 결과는 숫자가 되므로, 문자열로 변환해야 합니다.
이를 위해 빈 문자열을 전달한 뒤 나머지 값들을 더할 수 있습니다.
하지만 이렇게 하면 구분자(separator) 없이 값들이 서로 붙어서 연결됩니다.
구분자를 사용하려면 이런 식으로 처리해야 합니다.
이렇게 하면 정확히 동일한 결과를 얻을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단항 연산자(unary operators)를 살펴보겠습니다.
이 연산자들은 숫자에 대한 산술 연산을 수행하는 데 사용됩니다.
이 두 연산자는 `x`의 값을 1만큼 증가시키고, 다른 두 연산자는 1만큼 감소시킵니다.
즉, `x`의 값을 줄이는(decrement) 역할을 합니다.
실제로 어떻게 작동하는지 확인해 봅시다.
변수가 하나 있다고 가정해 보겠습니다.
`let a = 10`으로 설정하고, 이 10에 1을 더하고 싶다고 합시다.
그럴 때는 `a = a + 1`이라고 쓸 수 있습니다.
하지만 단항 연산자를 사용하는 더 간편한 방법이 있습니다.
바로 `a++`입니다.
이것은 앞서 본 코드 줄과 정확히 동일한 결과를 냅니다.
그러니 기존 코드를 주석 처리하고 `console.log(a)`를 실행해 보면,
보시다시피 11이 출력됩니다.
그렇다면 이 방식과 저 방식의 차이점은 무엇일까요?
접두사(prefix) 형태를 사용하면, 먼저 변수 값을 증가시킨 다음 그 변수를 평가하게 됩니다. 한편, 이 방식은 먼저 변수 값을 평가한 다음 변수에 1을 더합니다.
실제로 어떻게 작동하는지 한번 살펴볼까요?
'a++'를 사용해 보겠습니다(기존 코드는 지우고요).
이 시점의 값은 10이지만, 이 줄을 실행한 뒤에 로그를 출력하면 11이 됩니다.
왜 그럴까요?
먼저 콘솔에 값을 출력(평가)한 다음, 'a'의 값을 1만큼 증가시키기 때문입니다.
반대로 하면 어떻게 될까요?
'++a'는 'a'에 1을 더한 뒤 그 값을 평가하므로, 결과는 11이 됩니다.
뺄셈도 마찬가지입니다.
'--a'를 사용하면 값이 9가 되는 것을 확인할 수 있습니다.
반대 순서로 하면 10이 먼저 나오고 그 다음에 9가 됩니다.
그렇다면 언제 무엇을 사용해야 할까요?
그건 전적으로 상황에 따라 다릅니다.
하지만 걱정하지 마세요. 앞으로 이것을 어떻게 활용할 수 있는지 알아보게 될 테니까요.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값을 숫자로 변환(강제 형변환)하는 다양한 방법을 살펴보겠습니다.
첫 번째 방법은 가장 특이한 방식인데, 바로 더하기 기호(+)를 사용하는 것입니다.
문자열(string)인 '5'가 있다고 가정해 봅시다.
이것을 숫자로 변환하고 싶다면, 문자열 앞에 더하기 기호를 붙여 `+ '5'`와 같이 작성하면 됩니다. 그러면 문자열이 숫자로 변환됩니다.
`console.log(number)`로 출력해 보면 결과는 5가 되며, 해당 변수에 마우스를 올려보면 타입이 `number`임을 확인할 수 있습니다.
만약 'USD' 같은 문자열이라면 어떻게 될까요?
그러면 `NaN`(Not a Number, 숫자가 아님)이 반환됩니다.
하지만 이것이 숫자로 변환하는 가장 직관적인 방법은 아닙니다.
그래서 자바스크립트에는 더 명시적이고 명확하게 변환할 수 있는 다른 방법들이 있으며, 이에 대해서는 나중에 살펴보겠습니다.
첫 번째 방법은 `parseInt`를 사용하는 것인데, 이는 전역(global)에서 자유롭게 사용할 수 있는 함수입니다.
`parseInt`를 직접 사용하거나, 기존 코드를 주석 처리하고 복사한 뒤 `parseInt`로 변경해서 사용할 수 있습니다.
이름에서 알 수 있듯이, 이 함수는 문자열을 정수(integer)로 파싱(해석 및 변환)합니다.
그래서 결과값으로 5를 얻게 됩니다.
문자열 앞에 다른 문자가 붙으면 어떻게 될까요?
내부적으로 숫자를 찾으려는 시도를 하지만, 숫자가 아닌 경우에는 `NaN`이 반환됩니다.
만약 '555'를 입력하면 555라는 숫자를 얻게 됩니다.
하지만 이는 정수를 위한 것이므로, 소수점이 포함된 값을 사용해도 정수 부분만 얻게 됩니다.
그렇다면 부동 소수점(float)이나 더블(double) 타입의 숫자는 어떨까요? 참고로 float나 double은 소수점을 포함하는 숫자를 의미합니다.
이 경우에는 `parseFloat`를 사용할 수 있습니다.
해당 줄을 주석 처리하고 `parseFloat`를 사용해 보겠습니다.
동일한 값을 인자로 전달하면,
보시는 것처럼 소수점까지 포함하여 숫자로 변환해 줍니다. 사실 이 작업을 수행하는 방법이 하나 더 있는데, 바로 `Number` 생성자(constructor)를 사용하는 것입니다.
생성자에 대해서는 나중에 더 자세히 다루겠지만, 지금은 이 방법이 숫자 값을 반환한다는 점만 알아두시면 됩니다.
`const number = Number('문자열')`과 같이 작성하여 문자열을 인자로 전달할 수 있습니다.
보시다시피 숫자 형태의 문자열은 숫자로 변환(coercion)될 수 있습니다.
사실 불리언(boolean) 값도 숫자로 변환할 수 있습니다.
한번 확인해 볼까요?
`true`를 전달하면 1이 반환됩니다.
`false`는 어떨까요?
0이 반환됩니다.
이는 `false`가 0을 의미하기 때문입니다.
0은 'falsy(거짓 같은)' 값으로 간주됩니다.
이게 무슨 의미인지는 나중에 알아보겠습니다.
하지만 지금은 어떤 면에서 `false`는 0과 같고 `true`는 1과 같다고 이해하시면 됩니다.
그렇다면 어떤 것을 언제 사용해야 할까요?
소수점 없이 정수만 필요하다면 `parseInt`를 사용하세요.
소수점이 포함된 숫자가 필요하다면 `parseFloat`나 `Number`를 사용할 수 있습니다.
`parseFloat`의 특징은 문자열의 시작 부분부터 숫자를 추출하려고 시도한다는 점입니다.
예를 들어, 앞서 살펴본 것처럼 문자열 뒤에 다른 문자가 붙어 있는 경우를 생각해 봅시다.
`parseFloat`는 여전히 `555.25`를 반환하지만, `Number` 생성자는...
어떤 경우든 `NaN`(Not a Number, 숫자가 아님)을 반환합니다.
확인해 보죠.
이 줄을 주석 처리하고 `'asd'`를 전달해 보겠습니다.
결과는 `NaN`이 나옵니다.
요약하자면, 이는 전적으로 여러분의 구체적인 사용 사례에 달려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무한대(infinity)에 대해 살펴보겠습니다.
무한대란 무엇일까요?
짐작하셨겠지만,
아주 큰 수를 나타낼 때 사용합니다.
'숫자가 아님(NaN)'과 비슷한 개념이죠.
이는 전역적인(global) 속성입니다.
즉, 어디서든 접근할 수 있다는 뜻입니다.
`console.log(Infinity)`를 실행하면 결과로 `Infinity`가 출력되는 것을 확인할 수 있습니다.
그렇다면 무한대의 데이터 타입은 무엇일까요?
`Infinity`를 변수에 할당하고 마우스를 올려보면,
그 타입이 `number`(숫자)임을 알 수 있습니다.
음의 무한대(negative infinity)도 있는데, 단순히 마이너스 기호를 붙여서 표현합니다.
아주 중요한 내용은 아니지만, 다시 말해 매우 큰 수를 다룰 때 무한대가 나타납니다.
직접 해보면 결과가 `Infinity`로 나오는 것을 볼 수 있죠.
일반적으로는 아주 큰 수로 산술 연산을 하지 않는 한 무한대를 마주칠 일은 거의 없습니다.
따라서 굳이 신경 쓸 필요는 없는 부분입니다.
하지만 혹시라도 무한대를 접하게 될 경우를 대비해 설명해 드리는 것입니다.
그 의미를 이해할 수 있도록 말이죠.
무한대도 결국은 숫자라는 점을 기억하는 것이 중요합니다.
즉, 산술 연산이 가능하다는 뜻입니다.
그렇다면 원하는 결과가 나올까요, 아니면 뭔가 특별한 결과가 나올까요?
전혀 그렇지 않습니다.
보시다시피 1을 0으로 나누면 무한대가 됩니다.
무한대에 1을 더해도 무한대이고, 10을 무한대로 나누면 0이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복합 대입 연산자(compound assignment operators)에 대해 알아보겠습니다.
간단히 복습하자면, 식별자(identifier)에 값을 할당할 때 대입 연산자를 사용합니다.
예를 들어, `const X = 5;`와 같은 경우죠.
여기서 우리는 특정 값을 식별자에 바인딩(연결)하여 나중에 참조할 수 있게 합니다.
하지만 이 값을 변경하여 산술 연산의 결과를 다시 할당하고 싶다면 어떻게 해야 할까요?
그러려면 `const`를 `let`으로 변경하여 값을 재할당할 수 있게 해야 합니다.
만약 x에 5를 더하라고 한다면, `x = x + 5;`와 같이 작성할 것입니다.
이제 x는 10이라는 값을 갖게 됩니다.
콘솔에 출력하면 10이 나오겠지만, 이를 더 간결하게 처리하는 방법이 있습니다. 바로 복합 대입 연산자를 사용하여 `x += 5;`라고 쓰는 것입니다.
보시다시피 동일한 결과를 얻을 수 있습니다.
대입과 함께 사용할 연산자를 지정하기만 하면, 시스템이 자동으로 해당 값을 x에 더한 뒤 그 새로운 값을 다시 x에 할당해 줍니다. 아주 직관적인 방식이죠.
이러한 방식은 거의 모든 산술 연산자에서 사용할 수 있습니다.
예를 들어 x에 10을 곱하는 경우,
`x *= 10;`을 하면 100이 됩니다. 혹은 나눗셈을 할 수도 있죠.
`x /= 10;`을 하면 10이 나옵니다.
거듭제곱 연산도 마찬가지입니다.
`x **= 10;`을 하면 아주 큰 숫자가 나옵니다.
이 연산자들은 매우 유용하므로, 상황에 따라 적절히 활용하는 것이 좋습니다.
다음 강의로 넘어가기 전에, 산술 연산에 대해 조금 더 살펴보겠습니다.
만약 단순히 10을 더하는 것이 아니라, 특정 연산의 결과(예: 5 + 10 * 20)를 더하고 싶다면 어떻게 할까요?
이렇게 작성하면 먼저 해당 연산을 수행한 다음, 그 결과를 x에 더한 값을 다시 x에 할당하게 됩니다.
다음 강의에서는 지금까지 배운 개념들을 복습할 수 있는 간단한 과제를 소개해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간단한 과제를 하나 드릴게요.
함께 해결해 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숫자를 1만큼 증가시키는 다양한 방법을 시도해 보세요.
이를 위해 변수를 하나 선언할 수 있습니다.
단항 연산자(unary operator)를 사용할 수 있겠죠.
또 다른 방법으로는 변수에 1을 더한 값을 다시 할당하는 방식(`num = num + 1`)이 있습니다.
마지막으로 복합 대입 연산자(+=)를 사용할 수도 있습니다.
이제 콘솔에 출력해 봅시다.
두 번째 과제로 넘어가죠.
이번에는 숫자를 1만큼 감소시키는 다양한 방법을 시도해 보세요.
방법은 앞서와 똑같지만, 이번에는 뺄셈을 이용합니다.
먼저 후위 연산자(예: `num--`)를 사용할 수 있습니다.
전위 연산자(예: `--num`)를 사용할 수도 있고요.
복합 대입 연산자(-=)도 가능합니다.
결과를 확인해 보면 -3이 나옵니다.
이제 다음 과제로 넘어가겠습니다.
숫자 20을 문자열(string)로 변환하는 다양한 방법을 시도해 보세요.
이 문제를 해결하는 방법은 세 가지가 있습니다.
가장 기본적인 방법 한두 가지가 더 있을 수도 있겠네요.
첫 번째로, `20`에 빈 문자열을 더하는 방식이 있습니다.
마우스를 올려보면 문자열 타입임을 알 수 있습니다.
다음은 템플릿 리터럴(template literals)을 사용하는 방법입니다.
백틱(backtick)을 사용하면 문자열로 변환됩니다.
마지막으로 `String` 생성자 함수를 사용하는 방법이 있습니다.
아직 보여드린 적은 없지만, 관련 내용을 찾아보셨다면 아마 접해보셨을 겁니다.
`String(20)`과 같이 작성하면 되는데, 마우스를 올려보면 문자열 타입인 것을 확인할 수 있습니다.
이제 네 번째 과제로 넘어가 봅시다. 문자열 "20.5"를 숫자로 변환하는 다양한 방법을 시도해 봅시다.
첫 번째 방법은 꽤 간단합니다.
`const result1 = parseFloat("20.5");`와 같이 작성할 수 있습니다.
이렇게 하면 숫자(number) 타입의 값이 생성됩니다.
물론 다른 방법으로는 `const result2 = +"20.5";`와 같이 할 수도 있겠죠.
마우스를 올려보면 타입이 number임을 확인할 수 있습니다.
마지막으로 String 생성자와 유사한 Number 생성자를 사용할 수 있습니다.
`const result3 = Number("20.5");`와 같이 말이죠.
이제 다섯 번째 방법을 살펴봅시다.
숫자에 '20'이라는 값을 가진 문자열을 곱하는 것입니다.
즉, 문자열은 "20"입니다.
복합 할당 연산자를 사용해서 시도해 보세요.
이건 약간 까다로울 수 있습니다.
`let number = 10;`으로 선언한 뒤, `number *= parseInt("20");`을 수행할 수 있습니다.
왜 그럴까요?
`parseInt("20")`은 숫자 값을 반환하기 때문입니다.
따라서 일반적인 숫자처럼 다룰 수 있는 것이죠.
또는 `number *= +"20";`과 같이 작성할 수도 있습니다. 이 `number`를 로그로 출력해 보면,
보시다시피 4000이 나옵니다.
이제 이 과제를 마쳤으니 다음 강의로 넘어가겠습니다.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섹션에서는 어휘 구조, 변수 선언, 원시 타입과 유니언 타입, 그리고 다양한 연산자를 학습했습니다. 변수는 const를 기본으로 선언하고, any 타입은 사용하지 않으며, 값을 비교할 때는 ===를 사용한다는 점을 기억하십시오. 다음 섹션에서는 제어문을 학습하겠습니다.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400" b="1" dirty="0">
                <a:solidFill>
                  <a:schemeClr val="bg1"/>
                </a:solidFill>
              </a:defRPr>
            </a:lvl1pPr>
          </a:lstStyle>
          <a:p>
            <a:pPr latinLnBrk="0" algn="l" indent="0" marL="0">
              <a:buNone/>
            </a:pPr>
            <a:endParaRPr lang="en-US" sz="44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lstStyle>
            <a:lvl1pPr indent="0" marL="0">
              <a:buNone/>
              <a:defRPr lang="en-US" sz="2200" dirty="0">
                <a:solidFill>
                  <a:srgbClr val="F4B183"/>
                </a:solidFill>
              </a:defRPr>
            </a:lvl1pPr>
          </a:lstStyle>
          <a:p>
            <a:pPr latinLnBrk="0"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lstStyle>
            <a:lvl1pPr indent="0" marL="0">
              <a:buNone/>
              <a:defRPr lang="en-US" sz="2000" dirty="0">
                <a:solidFill>
                  <a:srgbClr val="F4B183"/>
                </a:solidFill>
              </a:defRPr>
            </a:lvl1pPr>
          </a:lstStyle>
          <a:p>
            <a:pPr latinLnBrk="0" indent="0" marL="0">
              <a:buNone/>
            </a:pP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lstStyle>
            <a:lvl1pPr algn="l" indent="0" marL="0">
              <a:buNone/>
              <a:defRPr lang="en-US" sz="4000" b="1" dirty="0">
                <a:solidFill>
                  <a:schemeClr val="bg1"/>
                </a:solidFill>
              </a:defRPr>
            </a:lvl1pPr>
          </a:lstStyle>
          <a:p>
            <a:pPr latinLnBrk="0" algn="l" indent="0" marL="0">
              <a:buNone/>
            </a:pP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2"/>
                </a:solidFill>
              </a:defRPr>
            </a:lvl1pPr>
          </a:lstStyle>
          <a:p>
            <a:pPr latinLnBrk="0" algn="l" indent="0" marL="0">
              <a:buNone/>
            </a:pP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lstStyle>
            <a:lvl1pPr indent="0" marL="0">
              <a:buNone/>
              <a:defRPr lang="en-US" sz="1600" i="1" dirty="0">
                <a:solidFill>
                  <a:srgbClr val="7F7F7F"/>
                </a:solidFill>
              </a:defRPr>
            </a:lvl1pPr>
          </a:lstStyle>
          <a:p>
            <a:pPr latinLnBrk="0" indent="0" marL="0">
              <a:buNone/>
            </a:pPr>
            <a:endParaRPr lang="en-US" sz="1600" dirty="0"/>
          </a:p>
        </p:txBody>
      </p:sp>
      <p:sp>
        <p:nvSpPr>
          <p:cNvPr id="4" name="Text 0"/>
          <p:cNvSpPr/>
          <p:nvPr/>
        </p:nvSpPr>
        <p:spPr>
          <a:xfrm>
            <a:off x="548640" y="6355080"/>
            <a:ext cx="5486400" cy="320040"/>
          </a:xfrm>
          <a:prstGeom prst="rect">
            <a:avLst/>
          </a:prstGeom>
          <a:noFill/>
          <a:ln/>
        </p:spPr>
        <p:txBody>
          <a:bodyPr wrap="square" rtlCol="0" anchor="ctr"/>
          <a:lstStyle/>
          <a:p>
            <a:pPr latinLnBrk="0" indent="0" marL="0">
              <a:buNone/>
            </a:pPr>
            <a:r>
              <a:rPr lang="en-US" sz="1100" dirty="0">
                <a:solidFill>
                  <a:srgbClr val="A6A6A6"/>
                </a:solidFill>
              </a:rPr>
              <a:t>Section 2. 어휘 구조와 데이터 타입</a:t>
            </a:r>
            <a:endParaRPr lang="en-US" sz="11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ctr"/>
          <a:lstStyle/>
          <a:p>
            <a:pPr latinLnBrk="0" algn="l" indent="0" marL="0">
              <a:buNone/>
            </a:pPr>
            <a:r>
              <a:rPr lang="en-US" sz="4400" b="1" dirty="0">
                <a:solidFill>
                  <a:schemeClr val="bg1"/>
                </a:solidFill>
              </a:rPr>
              <a:t>Section 2. 어휘 구조와 데이터 타입</a:t>
            </a:r>
            <a:endParaRPr lang="en-US" sz="44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nchor="t"/>
          <a:lstStyle/>
          <a:p>
            <a:pPr latinLnBrk="0" indent="0" marL="0">
              <a:buNone/>
            </a:pPr>
            <a:r>
              <a:rPr lang="en-US" sz="2200" dirty="0">
                <a:solidFill>
                  <a:srgbClr val="F4B183"/>
                </a:solidFill>
              </a:rPr>
              <a:t>변수, 데이터 타입, 연산자</a:t>
            </a:r>
            <a:endParaRPr lang="en-US" sz="2200" dirty="0"/>
          </a:p>
        </p:txBody>
      </p:sp>
      <p:sp>
        <p:nvSpPr>
          <p:cNvPr id="4" name="Text 2"/>
          <p:cNvSpPr txBox="1"/>
          <p:nvPr/>
        </p:nvSpPr>
        <p:spPr>
          <a:xfrm>
            <a:off x="731520" y="5669280"/>
            <a:ext cx="5486400" cy="457200"/>
          </a:xfrm>
          <a:prstGeom prst="rect">
            <a:avLst/>
          </a:prstGeom>
          <a:noFill/>
          <a:ln/>
        </p:spPr>
        <p:txBody>
          <a:bodyPr wrap="square" lIns="0" tIns="0" rIns="0" bIns="0" rtlCol="0" anchor="ctr"/>
          <a:lstStyle/>
          <a:p>
            <a:pPr latinLnBrk="0" indent="0" marL="0">
              <a:buNone/>
            </a:pPr>
            <a:r>
              <a:rPr lang="en-US" sz="1600" dirty="0">
                <a:solidFill>
                  <a:srgbClr val="BFBFBF"/>
                </a:solidFill>
              </a:rPr>
              <a:t>오영제</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이번 섹션의 구성</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7강부터 16강까지</a:t>
            </a:r>
            <a:endParaRPr lang="en-US" sz="1600" dirty="0"/>
          </a:p>
        </p:txBody>
      </p:sp>
      <p:graphicFrame>
        <p:nvGraphicFramePr>
          <p:cNvPr id="3" name="lectur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914400"/>
                <a:gridCol w="3931920"/>
                <a:gridCol w="6217920"/>
              </a:tblGrid>
              <a:tr h="393192">
                <a:tc>
                  <a:txBody>
                    <a:bodyPr/>
                    <a:lstStyle/>
                    <a:p>
                      <a:pPr latinLnBrk="0" indent="0" marL="0">
                        <a:buNone/>
                      </a:pPr>
                      <a:r>
                        <a:rPr lang="en-US" sz="1400" b="1" dirty="0">
                          <a:solidFill>
                            <a:schemeClr val="bg1"/>
                          </a:solidFill>
                        </a:rPr>
                        <a:t>강</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주제</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주요 내용</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393192">
                <a:tc>
                  <a:txBody>
                    <a:bodyPr/>
                    <a:lstStyle/>
                    <a:p>
                      <a:pPr latinLnBrk="0" indent="0" marL="0">
                        <a:buNone/>
                      </a:pPr>
                      <a:r>
                        <a:rPr lang="en-US" sz="1400" b="1" dirty="0">
                          <a:solidFill>
                            <a:schemeClr val="tx2"/>
                          </a:solidFill>
                        </a:rPr>
                        <a:t>7</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어휘 구조</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토큰, 키워드, 연산자, 주석</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8</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변수 선언</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var, let, const, 타입 추론</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9</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명명 규칙과 권장 사항</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const 우선 사용, 카멜 케이스, 식별자 규칙</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10</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원시 타입과 유니언 타입</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boolean, number, string, undefined, null, 유니언, any</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11</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실습: 원시 타입과 유니언 타입</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타입 주석과 유니언 타입 연습</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12</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산술 연산자와 NaN</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산술 연산자, 타입 강제 변환, 템플릿 리터럴, 증감 연산자</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13</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숫자로 변환하기</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 parseInt, parseFloat, Number</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14</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Infinity</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무한대 값과 연산</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15</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복합 대입 연산자</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 -=, *=, /=, **=</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393192">
                <a:tc>
                  <a:txBody>
                    <a:bodyPr/>
                    <a:lstStyle/>
                    <a:p>
                      <a:pPr latinLnBrk="0" indent="0" marL="0">
                        <a:buNone/>
                      </a:pPr>
                      <a:r>
                        <a:rPr lang="en-US" sz="1400" b="1" dirty="0">
                          <a:solidFill>
                            <a:schemeClr val="tx2"/>
                          </a:solidFill>
                        </a:rPr>
                        <a:t>16</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정리 실습</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증감, 문자열 변환, 숫자 변환 연습</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7강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어휘 구조</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어휘 구조란</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코드를 작성하는 규칙으로, 컴퓨터가 코드를 해석하는 기준입니다</a:t>
            </a:r>
            <a:endParaRPr lang="en-US" sz="1600" dirty="0"/>
          </a:p>
        </p:txBody>
      </p:sp>
      <p:sp>
        <p:nvSpPr>
          <p:cNvPr id="4" name="lex 토큰"/>
          <p:cNvSpPr/>
          <p:nvPr/>
        </p:nvSpPr>
        <p:spPr>
          <a:xfrm>
            <a:off x="548640" y="1691640"/>
            <a:ext cx="2606040" cy="2103120"/>
          </a:xfrm>
          <a:prstGeom prst="roundRect">
            <a:avLst>
              <a:gd name="adj" fmla="val 5217"/>
            </a:avLst>
          </a:prstGeom>
          <a:solidFill>
            <a:schemeClr val="bg2"/>
          </a:solidFill>
          <a:ln/>
        </p:spPr>
      </p:sp>
      <p:sp>
        <p:nvSpPr>
          <p:cNvPr id="5" name="Text 3"/>
          <p:cNvSpPr txBox="1"/>
          <p:nvPr/>
        </p:nvSpPr>
        <p:spPr>
          <a:xfrm>
            <a:off x="777240" y="1874520"/>
            <a:ext cx="2194560" cy="502920"/>
          </a:xfrm>
          <a:prstGeom prst="rect">
            <a:avLst/>
          </a:prstGeom>
          <a:noFill/>
          <a:ln/>
        </p:spPr>
        <p:txBody>
          <a:bodyPr wrap="square" lIns="0" tIns="0" rIns="0" bIns="0" rtlCol="0" anchor="ctr"/>
          <a:lstStyle/>
          <a:p>
            <a:pPr latinLnBrk="0" indent="0" marL="0">
              <a:buNone/>
            </a:pPr>
            <a:r>
              <a:rPr lang="en-US" sz="2000" b="1" dirty="0">
                <a:solidFill>
                  <a:schemeClr val="tx2"/>
                </a:solidFill>
              </a:rPr>
              <a:t>토큰</a:t>
            </a:r>
            <a:endParaRPr lang="en-US" sz="2000" dirty="0"/>
          </a:p>
        </p:txBody>
      </p:sp>
      <p:sp>
        <p:nvSpPr>
          <p:cNvPr id="6" name="Text 4"/>
          <p:cNvSpPr txBox="1"/>
          <p:nvPr/>
        </p:nvSpPr>
        <p:spPr>
          <a:xfrm>
            <a:off x="777240" y="2468880"/>
            <a:ext cx="2194560" cy="1188720"/>
          </a:xfrm>
          <a:prstGeom prst="rect">
            <a:avLst/>
          </a:prstGeom>
          <a:noFill/>
          <a:ln/>
        </p:spPr>
        <p:txBody>
          <a:bodyPr wrap="square" lIns="0" tIns="0" rIns="0" bIns="0" rtlCol="0" anchor="t"/>
          <a:lstStyle/>
          <a:p>
            <a:pPr latinLnBrk="0" indent="0" marL="0">
              <a:buNone/>
            </a:pPr>
            <a:r>
              <a:rPr lang="en-US" sz="1400" dirty="0">
                <a:solidFill>
                  <a:schemeClr val="tx1"/>
                </a:solidFill>
              </a:rPr>
              <a:t>코드를 구성하는 기본 단위</a:t>
            </a:r>
            <a:endParaRPr lang="en-US" sz="1400" dirty="0"/>
          </a:p>
          <a:p>
            <a:pPr latinLnBrk="0" indent="0" marL="0">
              <a:buNone/>
            </a:pPr>
            <a:r>
              <a:rPr lang="en-US" sz="1400" dirty="0">
                <a:solidFill>
                  <a:schemeClr val="tx1"/>
                </a:solidFill>
              </a:rPr>
              <a:t>키워드, 식별자, 리터럴, 연산자</a:t>
            </a:r>
            <a:endParaRPr lang="en-US" sz="1400" dirty="0"/>
          </a:p>
        </p:txBody>
      </p:sp>
      <p:sp>
        <p:nvSpPr>
          <p:cNvPr id="7" name="lex 공백"/>
          <p:cNvSpPr/>
          <p:nvPr/>
        </p:nvSpPr>
        <p:spPr>
          <a:xfrm>
            <a:off x="3383280" y="1691640"/>
            <a:ext cx="2606040" cy="2103120"/>
          </a:xfrm>
          <a:prstGeom prst="roundRect">
            <a:avLst>
              <a:gd name="adj" fmla="val 5217"/>
            </a:avLst>
          </a:prstGeom>
          <a:solidFill>
            <a:schemeClr val="bg2"/>
          </a:solidFill>
          <a:ln/>
        </p:spPr>
      </p:sp>
      <p:sp>
        <p:nvSpPr>
          <p:cNvPr id="8" name="Text 6"/>
          <p:cNvSpPr txBox="1"/>
          <p:nvPr/>
        </p:nvSpPr>
        <p:spPr>
          <a:xfrm>
            <a:off x="3611880" y="1874520"/>
            <a:ext cx="2194560" cy="502920"/>
          </a:xfrm>
          <a:prstGeom prst="rect">
            <a:avLst/>
          </a:prstGeom>
          <a:noFill/>
          <a:ln/>
        </p:spPr>
        <p:txBody>
          <a:bodyPr wrap="square" lIns="0" tIns="0" rIns="0" bIns="0" rtlCol="0" anchor="ctr"/>
          <a:lstStyle/>
          <a:p>
            <a:pPr latinLnBrk="0" indent="0" marL="0">
              <a:buNone/>
            </a:pPr>
            <a:r>
              <a:rPr lang="en-US" sz="2000" b="1" dirty="0">
                <a:solidFill>
                  <a:schemeClr val="tx2"/>
                </a:solidFill>
              </a:rPr>
              <a:t>공백</a:t>
            </a:r>
            <a:endParaRPr lang="en-US" sz="2000" dirty="0"/>
          </a:p>
        </p:txBody>
      </p:sp>
      <p:sp>
        <p:nvSpPr>
          <p:cNvPr id="9" name="Text 7"/>
          <p:cNvSpPr txBox="1"/>
          <p:nvPr/>
        </p:nvSpPr>
        <p:spPr>
          <a:xfrm>
            <a:off x="3611880" y="2468880"/>
            <a:ext cx="2194560" cy="1188720"/>
          </a:xfrm>
          <a:prstGeom prst="rect">
            <a:avLst/>
          </a:prstGeom>
          <a:noFill/>
          <a:ln/>
        </p:spPr>
        <p:txBody>
          <a:bodyPr wrap="square" lIns="0" tIns="0" rIns="0" bIns="0" rtlCol="0" anchor="t"/>
          <a:lstStyle/>
          <a:p>
            <a:pPr latinLnBrk="0" indent="0" marL="0">
              <a:buNone/>
            </a:pPr>
            <a:r>
              <a:rPr lang="en-US" sz="1400" dirty="0">
                <a:solidFill>
                  <a:schemeClr val="tx1"/>
                </a:solidFill>
              </a:rPr>
              <a:t>토큰을 구분하고 가독성을 높임</a:t>
            </a:r>
            <a:endParaRPr lang="en-US" sz="1400" dirty="0"/>
          </a:p>
          <a:p>
            <a:pPr latinLnBrk="0" indent="0" marL="0">
              <a:buNone/>
            </a:pPr>
            <a:r>
              <a:rPr lang="en-US" sz="1400" dirty="0">
                <a:solidFill>
                  <a:schemeClr val="tx1"/>
                </a:solidFill>
              </a:rPr>
              <a:t>스페이스, 탭, 줄바꿈</a:t>
            </a:r>
            <a:endParaRPr lang="en-US" sz="1400" dirty="0"/>
          </a:p>
        </p:txBody>
      </p:sp>
      <p:sp>
        <p:nvSpPr>
          <p:cNvPr id="10" name="lex 주석"/>
          <p:cNvSpPr/>
          <p:nvPr/>
        </p:nvSpPr>
        <p:spPr>
          <a:xfrm>
            <a:off x="6217920" y="1691640"/>
            <a:ext cx="2606040" cy="2103120"/>
          </a:xfrm>
          <a:prstGeom prst="roundRect">
            <a:avLst>
              <a:gd name="adj" fmla="val 5217"/>
            </a:avLst>
          </a:prstGeom>
          <a:solidFill>
            <a:schemeClr val="bg2"/>
          </a:solidFill>
          <a:ln/>
        </p:spPr>
      </p:sp>
      <p:sp>
        <p:nvSpPr>
          <p:cNvPr id="11" name="Text 9"/>
          <p:cNvSpPr txBox="1"/>
          <p:nvPr/>
        </p:nvSpPr>
        <p:spPr>
          <a:xfrm>
            <a:off x="6446520" y="1874520"/>
            <a:ext cx="2194560" cy="502920"/>
          </a:xfrm>
          <a:prstGeom prst="rect">
            <a:avLst/>
          </a:prstGeom>
          <a:noFill/>
          <a:ln/>
        </p:spPr>
        <p:txBody>
          <a:bodyPr wrap="square" lIns="0" tIns="0" rIns="0" bIns="0" rtlCol="0" anchor="ctr"/>
          <a:lstStyle/>
          <a:p>
            <a:pPr latinLnBrk="0" indent="0" marL="0">
              <a:buNone/>
            </a:pPr>
            <a:r>
              <a:rPr lang="en-US" sz="2000" b="1" dirty="0">
                <a:solidFill>
                  <a:schemeClr val="tx2"/>
                </a:solidFill>
              </a:rPr>
              <a:t>주석</a:t>
            </a:r>
            <a:endParaRPr lang="en-US" sz="2000" dirty="0"/>
          </a:p>
        </p:txBody>
      </p:sp>
      <p:sp>
        <p:nvSpPr>
          <p:cNvPr id="12" name="Text 10"/>
          <p:cNvSpPr txBox="1"/>
          <p:nvPr/>
        </p:nvSpPr>
        <p:spPr>
          <a:xfrm>
            <a:off x="6446520" y="2468880"/>
            <a:ext cx="2194560" cy="1188720"/>
          </a:xfrm>
          <a:prstGeom prst="rect">
            <a:avLst/>
          </a:prstGeom>
          <a:noFill/>
          <a:ln/>
        </p:spPr>
        <p:txBody>
          <a:bodyPr wrap="square" lIns="0" tIns="0" rIns="0" bIns="0" rtlCol="0" anchor="t"/>
          <a:lstStyle/>
          <a:p>
            <a:pPr latinLnBrk="0" indent="0" marL="0">
              <a:buNone/>
            </a:pPr>
            <a:r>
              <a:rPr lang="en-US" sz="1400" dirty="0">
                <a:solidFill>
                  <a:schemeClr val="tx1"/>
                </a:solidFill>
              </a:rPr>
              <a:t>코드에 대한 설명</a:t>
            </a:r>
            <a:endParaRPr lang="en-US" sz="1400" dirty="0"/>
          </a:p>
          <a:p>
            <a:pPr latinLnBrk="0" indent="0" marL="0">
              <a:buNone/>
            </a:pPr>
            <a:r>
              <a:rPr lang="en-US" sz="1400" dirty="0">
                <a:solidFill>
                  <a:schemeClr val="tx1"/>
                </a:solidFill>
              </a:rPr>
              <a:t>프로그램 동작에 영향 없음</a:t>
            </a:r>
            <a:endParaRPr lang="en-US" sz="1400" dirty="0"/>
          </a:p>
        </p:txBody>
      </p:sp>
      <p:sp>
        <p:nvSpPr>
          <p:cNvPr id="13" name="lex 대소문자 구분"/>
          <p:cNvSpPr/>
          <p:nvPr/>
        </p:nvSpPr>
        <p:spPr>
          <a:xfrm>
            <a:off x="9052560" y="1691640"/>
            <a:ext cx="2606040" cy="2103120"/>
          </a:xfrm>
          <a:prstGeom prst="roundRect">
            <a:avLst>
              <a:gd name="adj" fmla="val 5217"/>
            </a:avLst>
          </a:prstGeom>
          <a:solidFill>
            <a:schemeClr val="bg2"/>
          </a:solidFill>
          <a:ln/>
        </p:spPr>
      </p:sp>
      <p:sp>
        <p:nvSpPr>
          <p:cNvPr id="14" name="Text 12"/>
          <p:cNvSpPr txBox="1"/>
          <p:nvPr/>
        </p:nvSpPr>
        <p:spPr>
          <a:xfrm>
            <a:off x="9281160" y="1874520"/>
            <a:ext cx="2194560" cy="502920"/>
          </a:xfrm>
          <a:prstGeom prst="rect">
            <a:avLst/>
          </a:prstGeom>
          <a:noFill/>
          <a:ln/>
        </p:spPr>
        <p:txBody>
          <a:bodyPr wrap="square" lIns="0" tIns="0" rIns="0" bIns="0" rtlCol="0" anchor="ctr"/>
          <a:lstStyle/>
          <a:p>
            <a:pPr latinLnBrk="0" indent="0" marL="0">
              <a:buNone/>
            </a:pPr>
            <a:r>
              <a:rPr lang="en-US" sz="2000" b="1" dirty="0">
                <a:solidFill>
                  <a:schemeClr val="tx2"/>
                </a:solidFill>
              </a:rPr>
              <a:t>대소문자 구분</a:t>
            </a:r>
            <a:endParaRPr lang="en-US" sz="2000" dirty="0"/>
          </a:p>
        </p:txBody>
      </p:sp>
      <p:sp>
        <p:nvSpPr>
          <p:cNvPr id="15" name="Text 13"/>
          <p:cNvSpPr txBox="1"/>
          <p:nvPr/>
        </p:nvSpPr>
        <p:spPr>
          <a:xfrm>
            <a:off x="9281160" y="2468880"/>
            <a:ext cx="2194560" cy="1188720"/>
          </a:xfrm>
          <a:prstGeom prst="rect">
            <a:avLst/>
          </a:prstGeom>
          <a:noFill/>
          <a:ln/>
        </p:spPr>
        <p:txBody>
          <a:bodyPr wrap="square" lIns="0" tIns="0" rIns="0" bIns="0" rtlCol="0" anchor="t"/>
          <a:lstStyle/>
          <a:p>
            <a:pPr latinLnBrk="0" indent="0" marL="0">
              <a:buNone/>
            </a:pPr>
            <a:r>
              <a:rPr lang="en-US" sz="1400" dirty="0">
                <a:solidFill>
                  <a:schemeClr val="tx1"/>
                </a:solidFill>
              </a:rPr>
              <a:t>name과 Name은</a:t>
            </a:r>
            <a:endParaRPr lang="en-US" sz="1400" dirty="0"/>
          </a:p>
          <a:p>
            <a:pPr latinLnBrk="0" indent="0" marL="0">
              <a:buNone/>
            </a:pPr>
            <a:r>
              <a:rPr lang="en-US" sz="1400" dirty="0">
                <a:solidFill>
                  <a:schemeClr val="tx1"/>
                </a:solidFill>
              </a:rPr>
              <a:t>서로 다른 식별자</a:t>
            </a:r>
            <a:endParaRPr lang="en-US" sz="1400" dirty="0"/>
          </a:p>
        </p:txBody>
      </p:sp>
      <p:sp>
        <p:nvSpPr>
          <p:cNvPr id="16" name="comment code"/>
          <p:cNvSpPr/>
          <p:nvPr/>
        </p:nvSpPr>
        <p:spPr>
          <a:xfrm>
            <a:off x="548640" y="4069080"/>
            <a:ext cx="11064240" cy="1965960"/>
          </a:xfrm>
          <a:prstGeom prst="roundRect">
            <a:avLst>
              <a:gd name="adj" fmla="val 4651"/>
            </a:avLst>
          </a:prstGeom>
          <a:solidFill>
            <a:srgbClr val="1E1E1E"/>
          </a:solidFill>
          <a:ln/>
        </p:spPr>
      </p:sp>
      <p:sp>
        <p:nvSpPr>
          <p:cNvPr id="17" name="Text 15"/>
          <p:cNvSpPr txBox="1"/>
          <p:nvPr/>
        </p:nvSpPr>
        <p:spPr>
          <a:xfrm>
            <a:off x="822960" y="420624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주석 작성 방법</a:t>
            </a:r>
            <a:endParaRPr lang="en-US" sz="1200" dirty="0"/>
          </a:p>
        </p:txBody>
      </p:sp>
      <p:sp>
        <p:nvSpPr>
          <p:cNvPr id="18" name="Text 16"/>
          <p:cNvSpPr txBox="1"/>
          <p:nvPr/>
        </p:nvSpPr>
        <p:spPr>
          <a:xfrm>
            <a:off x="822960" y="4617720"/>
            <a:ext cx="10515600" cy="12344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한 줄 주석</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여러 줄 주석</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두 번째 줄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price = 5000; // 토큰: const, price, =, 5000, ;</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키워드</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특별한 의미를 가진 예약어로, 변수나 함수 이름으로 사용할 수 없습니다</a:t>
            </a:r>
            <a:endParaRPr lang="en-US" sz="1600" dirty="0"/>
          </a:p>
        </p:txBody>
      </p:sp>
      <p:graphicFrame>
        <p:nvGraphicFramePr>
          <p:cNvPr id="6" name="keyword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8321040"/>
              </a:tblGrid>
              <a:tr h="548640">
                <a:tc>
                  <a:txBody>
                    <a:bodyPr/>
                    <a:lstStyle/>
                    <a:p>
                      <a:pPr latinLnBrk="0" indent="0" marL="0">
                        <a:buNone/>
                      </a:pPr>
                      <a:r>
                        <a:rPr lang="en-US" sz="1500" b="1" dirty="0">
                          <a:solidFill>
                            <a:schemeClr val="bg1"/>
                          </a:solidFill>
                        </a:rPr>
                        <a:t>용도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키워드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변수 선언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const, let, var</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조건문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if, else, switch, case, default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반복문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for, while, do, break</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함수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function, return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48056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예약어를 변수 이름으로 사용하면 오류가 발생합니다. 예: const true = true;</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값을 계산하거나 할당하거나 비교할 때 사용합니다</a:t>
            </a:r>
            <a:endParaRPr lang="en-US" sz="1600" dirty="0"/>
          </a:p>
        </p:txBody>
      </p:sp>
      <p:graphicFrame>
        <p:nvGraphicFramePr>
          <p:cNvPr id="7" name="operator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377440"/>
                <a:gridCol w="3291840"/>
                <a:gridCol w="5394960"/>
              </a:tblGrid>
              <a:tr h="548640">
                <a:tc>
                  <a:txBody>
                    <a:bodyPr/>
                    <a:lstStyle/>
                    <a:p>
                      <a:pPr latinLnBrk="0" indent="0" marL="0">
                        <a:buNone/>
                      </a:pPr>
                      <a:r>
                        <a:rPr lang="en-US" sz="1500" b="1" dirty="0">
                          <a:solidFill>
                            <a:schemeClr val="bg1"/>
                          </a:solidFill>
                        </a:rPr>
                        <a:t>종류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의미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산술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  -  *  /  %  **</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덧셈, 뺄셈, 곱셈, 나눗셈, 나머지, 거듭제곱</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대입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  +=  -=  *=  /=</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식별자에 값을 할당</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비교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  !==  &gt;  &lt;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값과 타입이 같은지, 크기 비교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(느슨한 비교)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  !=</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타입 변환 후 비교 (권장하지 않음)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48056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값을 비교할 때는 데이터 타입까지 함께 비교하는 === 와 !== 를 사용합니다.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8강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변수 선언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변수 선언 키워드 3가지</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var, let, const</a:t>
            </a:r>
            <a:endParaRPr lang="en-US" sz="1600" dirty="0"/>
          </a:p>
        </p:txBody>
      </p:sp>
      <p:graphicFrame>
        <p:nvGraphicFramePr>
          <p:cNvPr id="9" name="declar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645920"/>
                <a:gridCol w="1645920"/>
                <a:gridCol w="2926080"/>
                <a:gridCol w="4846320"/>
              </a:tblGrid>
              <a:tr h="594360">
                <a:tc>
                  <a:txBody>
                    <a:bodyPr/>
                    <a:lstStyle/>
                    <a:p>
                      <a:pPr latinLnBrk="0" indent="0" marL="0">
                        <a:buNone/>
                      </a:pPr>
                      <a:r>
                        <a:rPr lang="en-US" sz="1500" b="1" dirty="0">
                          <a:solidFill>
                            <a:schemeClr val="bg1"/>
                          </a:solidFill>
                        </a:rPr>
                        <a:t>키워드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재할당</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같은 범위에서 재선언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사용 기준</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9436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var</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예전 방식으로, 사용하지 않습니다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9436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let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불가능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값을 다시 할당해야 할 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9436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const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불가능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불가능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기본으로 사용합니다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declare code"/>
          <p:cNvSpPr/>
          <p:nvPr/>
        </p:nvSpPr>
        <p:spPr>
          <a:xfrm>
            <a:off x="548640" y="4206240"/>
            <a:ext cx="11064240" cy="1737360"/>
          </a:xfrm>
          <a:prstGeom prst="roundRect">
            <a:avLst>
              <a:gd name="adj" fmla="val 5263"/>
            </a:avLst>
          </a:prstGeom>
          <a:solidFill>
            <a:srgbClr val="1E1E1E"/>
          </a:solidFill>
          <a:ln/>
        </p:spPr>
      </p:sp>
      <p:sp>
        <p:nvSpPr>
          <p:cNvPr id="6" name="Text 3"/>
          <p:cNvSpPr txBox="1"/>
          <p:nvPr/>
        </p:nvSpPr>
        <p:spPr>
          <a:xfrm>
            <a:off x="822960" y="434340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7" name="Text 4"/>
          <p:cNvSpPr txBox="1"/>
          <p:nvPr/>
        </p:nvSpPr>
        <p:spPr>
          <a:xfrm>
            <a:off x="822960" y="4754880"/>
            <a:ext cx="10515600" cy="10058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x = 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x = 10;      // 재할당 가능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y = 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y = 2;       // 오류: Cannot assign to 'y' because it is a constant.</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JavaScript와 TypeScript의 차이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JavaScript는 변수에 다른 타입의 값을 다시 할당해도 오류를 표시하지 않습니다</a:t>
            </a:r>
            <a:endParaRPr lang="en-US" sz="1600" dirty="0"/>
          </a:p>
        </p:txBody>
      </p:sp>
      <p:sp>
        <p:nvSpPr>
          <p:cNvPr id="4" name="js code"/>
          <p:cNvSpPr/>
          <p:nvPr/>
        </p:nvSpPr>
        <p:spPr>
          <a:xfrm>
            <a:off x="548640" y="1691640"/>
            <a:ext cx="5394960" cy="2194560"/>
          </a:xfrm>
          <a:prstGeom prst="roundRect">
            <a:avLst>
              <a:gd name="adj" fmla="val 4167"/>
            </a:avLst>
          </a:prstGeom>
          <a:solidFill>
            <a:srgbClr val="1E1E1E"/>
          </a:solidFill>
          <a:ln/>
        </p:spPr>
      </p:sp>
      <p:sp>
        <p:nvSpPr>
          <p:cNvPr id="5" name="Text 3"/>
          <p:cNvSpPr txBox="1"/>
          <p:nvPr/>
        </p:nvSpPr>
        <p:spPr>
          <a:xfrm>
            <a:off x="822960" y="1828800"/>
            <a:ext cx="48463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script.js</a:t>
            </a:r>
            <a:endParaRPr lang="en-US" sz="1200" dirty="0"/>
          </a:p>
        </p:txBody>
      </p:sp>
      <p:sp>
        <p:nvSpPr>
          <p:cNvPr id="6" name="Text 4"/>
          <p:cNvSpPr txBox="1"/>
          <p:nvPr/>
        </p:nvSpPr>
        <p:spPr>
          <a:xfrm>
            <a:off x="822960" y="2240280"/>
            <a:ext cx="4846320" cy="14630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x = "hello";</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x = 5;</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오류 없음</a:t>
            </a:r>
            <a:endParaRPr lang="en-US" sz="1400" dirty="0"/>
          </a:p>
        </p:txBody>
      </p:sp>
      <p:sp>
        <p:nvSpPr>
          <p:cNvPr id="7" name="ts code"/>
          <p:cNvSpPr/>
          <p:nvPr/>
        </p:nvSpPr>
        <p:spPr>
          <a:xfrm>
            <a:off x="6217920" y="1691640"/>
            <a:ext cx="5394960" cy="2194560"/>
          </a:xfrm>
          <a:prstGeom prst="roundRect">
            <a:avLst>
              <a:gd name="adj" fmla="val 4167"/>
            </a:avLst>
          </a:prstGeom>
          <a:solidFill>
            <a:srgbClr val="1E1E1E"/>
          </a:solidFill>
          <a:ln/>
        </p:spPr>
      </p:sp>
      <p:sp>
        <p:nvSpPr>
          <p:cNvPr id="8" name="Text 6"/>
          <p:cNvSpPr txBox="1"/>
          <p:nvPr/>
        </p:nvSpPr>
        <p:spPr>
          <a:xfrm>
            <a:off x="6492240" y="1828800"/>
            <a:ext cx="48463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9" name="Text 7"/>
          <p:cNvSpPr txBox="1"/>
          <p:nvPr/>
        </p:nvSpPr>
        <p:spPr>
          <a:xfrm>
            <a:off x="6492240" y="2240280"/>
            <a:ext cx="4846320" cy="14630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x = "hello";</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x = 5;</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오류: Type 'number' is not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assignable to type 'string'.</a:t>
            </a:r>
            <a:endParaRPr lang="en-US" sz="1400" dirty="0"/>
          </a:p>
        </p:txBody>
      </p:sp>
      <p:sp>
        <p:nvSpPr>
          <p:cNvPr id="10" name="loose note"/>
          <p:cNvSpPr/>
          <p:nvPr/>
        </p:nvSpPr>
        <p:spPr>
          <a:xfrm>
            <a:off x="548640" y="4160520"/>
            <a:ext cx="11064240" cy="1737360"/>
          </a:xfrm>
          <a:prstGeom prst="roundRect">
            <a:avLst>
              <a:gd name="adj" fmla="val 6316"/>
            </a:avLst>
          </a:prstGeom>
          <a:solidFill>
            <a:schemeClr val="bg2"/>
          </a:solidFill>
          <a:ln/>
        </p:spPr>
      </p:sp>
      <p:sp>
        <p:nvSpPr>
          <p:cNvPr id="11" name="Text 9"/>
          <p:cNvSpPr txBox="1"/>
          <p:nvPr/>
        </p:nvSpPr>
        <p:spPr>
          <a:xfrm>
            <a:off x="822960" y="4251960"/>
            <a:ext cx="10515600" cy="1554480"/>
          </a:xfrm>
          <a:prstGeom prst="rect">
            <a:avLst/>
          </a:prstGeom>
          <a:noFill/>
          <a:ln/>
        </p:spPr>
        <p:txBody>
          <a:bodyPr wrap="square" lIns="0" tIns="0" rIns="0" bIns="0" rtlCol="0" anchor="ctr"/>
          <a:lstStyle/>
          <a:p>
            <a:pPr latinLnBrk="0" indent="0" marL="0">
              <a:spcAft>
                <a:spcPts val="600"/>
              </a:spcAft>
              <a:buNone/>
            </a:pPr>
            <a:r>
              <a:rPr lang="en-US" sz="1800" b="1" dirty="0">
                <a:solidFill>
                  <a:schemeClr val="tx2"/>
                </a:solidFill>
              </a:rPr>
              <a:t>느슨한 타입 시스템(loosely typed)</a:t>
            </a:r>
            <a:endParaRPr lang="en-US" sz="1800" dirty="0"/>
          </a:p>
          <a:p>
            <a:pPr latinLnBrk="0" indent="0" marL="0">
              <a:spcAft>
                <a:spcPts val="600"/>
              </a:spcAft>
              <a:buNone/>
            </a:pPr>
            <a:r>
              <a:rPr lang="en-US" sz="1500" dirty="0">
                <a:solidFill>
                  <a:schemeClr val="tx1"/>
                </a:solidFill>
              </a:rPr>
              <a:t>JavaScript에서는 문자열을 할당한 변수에 나중에 숫자를 할당할 수 있습니다. 실제 서비스 환경에서 혼란과 버그의 원인이 되므로, 이 강의는 TypeScript를 사용합니다.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타입 추론</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타입을 직접 적지 않아도 에디터가 할당된 값으로 타입을 알아냅니다</a:t>
            </a:r>
            <a:endParaRPr lang="en-US" sz="1600" dirty="0"/>
          </a:p>
        </p:txBody>
      </p:sp>
      <p:graphicFrame>
        <p:nvGraphicFramePr>
          <p:cNvPr id="11" name="infer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2377440"/>
                <a:gridCol w="5394960"/>
              </a:tblGrid>
              <a:tr h="502920">
                <a:tc>
                  <a:txBody>
                    <a:bodyPr/>
                    <a:lstStyle/>
                    <a:p>
                      <a:pPr latinLnBrk="0" indent="0" marL="0">
                        <a:buNone/>
                      </a:pPr>
                      <a:r>
                        <a:rPr lang="en-US" sz="1500" b="1" dirty="0">
                          <a:solidFill>
                            <a:schemeClr val="bg1"/>
                          </a:solidFill>
                        </a:rPr>
                        <a:t>코드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추론된 타입</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이유</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let x = 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number</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값이 바뀔 수 있으므로 숫자 타입 전체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const y = 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값이 절대 바뀌지 않으므로 5 그 자체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let s = "hi";</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string</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문자열 타입 전체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let b = 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true 또는 false</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const c = 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값이 바뀌지 않으므로 true 그 자체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93776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변수 위에 마우스를 올리면 추론된 타입을 확인할 수 있습니다.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9강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명명 규칙과 권장 사항</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const를 기본으로 사용</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재할당이 필요할 때만 let으로 바꿉니다</a:t>
            </a:r>
            <a:endParaRPr lang="en-US" sz="1600" dirty="0"/>
          </a:p>
        </p:txBody>
      </p:sp>
      <p:sp>
        <p:nvSpPr>
          <p:cNvPr id="4" name="const code"/>
          <p:cNvSpPr/>
          <p:nvPr/>
        </p:nvSpPr>
        <p:spPr>
          <a:xfrm>
            <a:off x="548640" y="1691640"/>
            <a:ext cx="5394960" cy="2377440"/>
          </a:xfrm>
          <a:prstGeom prst="roundRect">
            <a:avLst>
              <a:gd name="adj" fmla="val 3846"/>
            </a:avLst>
          </a:prstGeom>
          <a:solidFill>
            <a:srgbClr val="1E1E1E"/>
          </a:solidFill>
          <a:ln/>
        </p:spPr>
      </p:sp>
      <p:sp>
        <p:nvSpPr>
          <p:cNvPr id="5" name="Text 3"/>
          <p:cNvSpPr txBox="1"/>
          <p:nvPr/>
        </p:nvSpPr>
        <p:spPr>
          <a:xfrm>
            <a:off x="822960" y="1828800"/>
            <a:ext cx="48463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4846320" cy="16459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권장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count = 5;</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재할당이 필요할 때만</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total = 0;</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total = total + count;</a:t>
            </a:r>
            <a:endParaRPr lang="en-US" sz="1400" dirty="0"/>
          </a:p>
        </p:txBody>
      </p:sp>
      <p:sp>
        <p:nvSpPr>
          <p:cNvPr id="7" name="why const"/>
          <p:cNvSpPr/>
          <p:nvPr/>
        </p:nvSpPr>
        <p:spPr>
          <a:xfrm>
            <a:off x="6217920" y="1691640"/>
            <a:ext cx="5394960" cy="2377440"/>
          </a:xfrm>
          <a:prstGeom prst="roundRect">
            <a:avLst>
              <a:gd name="adj" fmla="val 4615"/>
            </a:avLst>
          </a:prstGeom>
          <a:solidFill>
            <a:schemeClr val="bg2"/>
          </a:solidFill>
          <a:ln/>
        </p:spPr>
      </p:sp>
      <p:sp>
        <p:nvSpPr>
          <p:cNvPr id="8" name="Text 6"/>
          <p:cNvSpPr txBox="1"/>
          <p:nvPr/>
        </p:nvSpPr>
        <p:spPr>
          <a:xfrm>
            <a:off x="6446520" y="1828800"/>
            <a:ext cx="4937760" cy="210312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이유</a:t>
            </a:r>
            <a:endParaRPr lang="en-US" sz="1400" dirty="0"/>
          </a:p>
          <a:p>
            <a:pPr latinLnBrk="0" marL="342900" indent="-342900">
              <a:spcAft>
                <a:spcPts val="600"/>
              </a:spcAft>
              <a:buSzPct val="100000"/>
              <a:buChar char="•"/>
            </a:pPr>
            <a:r>
              <a:rPr lang="en-US" sz="1400" dirty="0">
                <a:solidFill>
                  <a:schemeClr val="tx1"/>
                </a:solidFill>
              </a:rPr>
              <a:t>let은 나중에 재할당될 수 있다는 뜻이므로, 코드를 읽는 사람이 언제 값이 바뀌는지 확인해야 합니다.</a:t>
            </a:r>
            <a:endParaRPr lang="en-US" sz="1400" dirty="0"/>
          </a:p>
          <a:p>
            <a:pPr latinLnBrk="0" marL="342900" indent="-342900">
              <a:spcAft>
                <a:spcPts val="600"/>
              </a:spcAft>
              <a:buSzPct val="100000"/>
              <a:buChar char="•"/>
            </a:pPr>
            <a:r>
              <a:rPr lang="en-US" sz="1400" dirty="0">
                <a:solidFill>
                  <a:schemeClr val="tx1"/>
                </a:solidFill>
              </a:rPr>
              <a:t>const는 값을 바꾸지 않겠다는 의도를 분명히 전달합니다.</a:t>
            </a:r>
            <a:endParaRPr lang="en-US" sz="1400" dirty="0"/>
          </a:p>
          <a:p>
            <a:pPr latinLnBrk="0" marL="342900" indent="-342900">
              <a:spcAft>
                <a:spcPts val="600"/>
              </a:spcAft>
              <a:buSzPct val="100000"/>
              <a:buChar char="•"/>
            </a:pPr>
            <a:r>
              <a:rPr lang="en-US" sz="1400" dirty="0">
                <a:solidFill>
                  <a:schemeClr val="tx1"/>
                </a:solidFill>
              </a:rPr>
              <a:t>유지보수성, 명확성, 가독성이 높아집니다.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명명 규칙</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JavaScript와 TypeScript에서는 주로 카멜 케이스를 사용합니다</a:t>
            </a:r>
            <a:endParaRPr lang="en-US" sz="1600" dirty="0"/>
          </a:p>
        </p:txBody>
      </p:sp>
      <p:graphicFrame>
        <p:nvGraphicFramePr>
          <p:cNvPr id="14" name="cas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94560"/>
                <a:gridCol w="2926080"/>
                <a:gridCol w="3931920"/>
                <a:gridCol w="2011680"/>
              </a:tblGrid>
              <a:tr h="640080">
                <a:tc>
                  <a:txBody>
                    <a:bodyPr/>
                    <a:lstStyle/>
                    <a:p>
                      <a:pPr latinLnBrk="0" indent="0" marL="0">
                        <a:buNone/>
                      </a:pPr>
                      <a:r>
                        <a:rPr lang="en-US" sz="1400" b="1" dirty="0">
                          <a:solidFill>
                            <a:schemeClr val="bg1"/>
                          </a:solidFill>
                        </a:rPr>
                        <a:t>방식</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예시</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규칙</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사용</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640080">
                <a:tc>
                  <a:txBody>
                    <a:bodyPr/>
                    <a:lstStyle/>
                    <a:p>
                      <a:pPr latinLnBrk="0" indent="0" marL="0">
                        <a:buNone/>
                      </a:pPr>
                      <a:r>
                        <a:rPr lang="en-US" sz="1400" b="1" dirty="0">
                          <a:solidFill>
                            <a:schemeClr val="tx2"/>
                          </a:solidFill>
                        </a:rPr>
                        <a:t>카멜 케이스</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numberOfStudents</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첫 단어를 제외한 각 단어의 첫 글자를 대문자로</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변수, 함수 (기본)</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640080">
                <a:tc>
                  <a:txBody>
                    <a:bodyPr/>
                    <a:lstStyle/>
                    <a:p>
                      <a:pPr latinLnBrk="0" indent="0" marL="0">
                        <a:buNone/>
                      </a:pPr>
                      <a:r>
                        <a:rPr lang="en-US" sz="1400" b="1" dirty="0">
                          <a:solidFill>
                            <a:schemeClr val="tx2"/>
                          </a:solidFill>
                        </a:rPr>
                        <a:t>파스칼 케이스</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NumberOfStudents</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모든 단어의 첫 글자를 대문자로</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클래스, 타입 (이후 강의)</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640080">
                <a:tc>
                  <a:txBody>
                    <a:bodyPr/>
                    <a:lstStyle/>
                    <a:p>
                      <a:pPr latinLnBrk="0" indent="0" marL="0">
                        <a:buNone/>
                      </a:pPr>
                      <a:r>
                        <a:rPr lang="en-US" sz="1400" b="1" dirty="0">
                          <a:solidFill>
                            <a:schemeClr val="tx2"/>
                          </a:solidFill>
                        </a:rPr>
                        <a:t>스네이크 케이스</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number_of_students</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소문자로 쓰고 단어 사이를 밑줄로 구분</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드물게 사용</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식별자 규칙</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변수 이름으로 사용할 수 있는 문자와 사용할 수 없는 문자</a:t>
            </a:r>
            <a:endParaRPr lang="en-US" sz="1600" dirty="0"/>
          </a:p>
        </p:txBody>
      </p:sp>
      <p:graphicFrame>
        <p:nvGraphicFramePr>
          <p:cNvPr id="15" name="ident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1828800"/>
                <a:gridCol w="5943600"/>
              </a:tblGrid>
              <a:tr h="475488">
                <a:tc>
                  <a:txBody>
                    <a:bodyPr/>
                    <a:lstStyle/>
                    <a:p>
                      <a:pPr latinLnBrk="0" indent="0" marL="0">
                        <a:buNone/>
                      </a:pPr>
                      <a:r>
                        <a:rPr lang="en-US" sz="1500" b="1" dirty="0">
                          <a:solidFill>
                            <a:schemeClr val="bg1"/>
                          </a:solidFill>
                        </a:rPr>
                        <a:t>예시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가능 여부</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설명</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75488">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my name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불가능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공백을 포함할 수 없습니다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75488">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my=name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불가능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등호는 대입 연산자입니다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75488">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3myName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불가능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숫자로 시작할 수 없습니다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75488">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my1Name, myName1</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숫자는 첫 글자가 아니면 사용할 수 있습니다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75488">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_name, $name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가능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밑줄과 달러 기호를 사용할 수 있습니다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75488">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y 와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서로 다름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대소문자를 구분합니다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07492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같은 범위에서 이미 선언한 식별자는 다시 선언할 수 없습니다.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10강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원시 타입과 유니언 타입</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원시 타입</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앞으로 다룰 모든 데이터의 기본이 되는 타입입니다</a:t>
            </a:r>
            <a:endParaRPr lang="en-US" sz="1600" dirty="0"/>
          </a:p>
        </p:txBody>
      </p:sp>
      <p:graphicFrame>
        <p:nvGraphicFramePr>
          <p:cNvPr id="17" name="primitiv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94560"/>
                <a:gridCol w="3657600"/>
                <a:gridCol w="5212080"/>
              </a:tblGrid>
              <a:tr h="502920">
                <a:tc>
                  <a:txBody>
                    <a:bodyPr/>
                    <a:lstStyle/>
                    <a:p>
                      <a:pPr latinLnBrk="0" indent="0" marL="0">
                        <a:buNone/>
                      </a:pPr>
                      <a:r>
                        <a:rPr lang="en-US" sz="1500" b="1" dirty="0">
                          <a:solidFill>
                            <a:schemeClr val="bg1"/>
                          </a:solidFill>
                        </a:rPr>
                        <a:t>타입</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예시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설명</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 false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논리값</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number</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 -5, 0.3, 5_000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정수와 소수를 모두 하나의 타입으로 표현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string</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"text", 'text', `text`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텍스트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undefined</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let a;</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값이 할당되지 않은 상태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null</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const b = null;</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값이 없음을 명시적으로 나타냄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84632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이 밖에 아주 큰 정수를 다루는 bigint와 고유한 값을 만드는 symbol이 있어, 원시 타입은 모두 7가지입니다.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문자열 표기 방법</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큰따옴표, 작은따옴표, 백틱</a:t>
            </a:r>
            <a:endParaRPr lang="en-US" sz="1600" dirty="0"/>
          </a:p>
        </p:txBody>
      </p:sp>
      <p:sp>
        <p:nvSpPr>
          <p:cNvPr id="4" name="string code"/>
          <p:cNvSpPr/>
          <p:nvPr/>
        </p:nvSpPr>
        <p:spPr>
          <a:xfrm>
            <a:off x="548640" y="1691640"/>
            <a:ext cx="11064240" cy="2103120"/>
          </a:xfrm>
          <a:prstGeom prst="roundRect">
            <a:avLst>
              <a:gd name="adj" fmla="val 4348"/>
            </a:avLst>
          </a:prstGeom>
          <a:solidFill>
            <a:srgbClr val="1E1E1E"/>
          </a:solidFill>
          <a:ln/>
        </p:spPr>
      </p:sp>
      <p:sp>
        <p:nvSpPr>
          <p:cNvPr id="5" name="Text 3"/>
          <p:cNvSpPr txBox="1"/>
          <p:nvPr/>
        </p:nvSpPr>
        <p:spPr>
          <a:xfrm>
            <a:off x="822960" y="182880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10515600" cy="137160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doubleQuotes = "Hello";</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singleQuotes = 'Hello';</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backticks = `Hello`;   // 템플릿 리터럴 (12강)</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hugeNumber = 5_000;     // 밑줄은 표시용, 값은 5000</a:t>
            </a:r>
            <a:endParaRPr lang="en-US" sz="1400" dirty="0"/>
          </a:p>
        </p:txBody>
      </p:sp>
      <p:sp>
        <p:nvSpPr>
          <p:cNvPr id="7" name="quote note"/>
          <p:cNvSpPr/>
          <p:nvPr/>
        </p:nvSpPr>
        <p:spPr>
          <a:xfrm>
            <a:off x="548640" y="4023360"/>
            <a:ext cx="11064240" cy="1737360"/>
          </a:xfrm>
          <a:prstGeom prst="roundRect">
            <a:avLst>
              <a:gd name="adj" fmla="val 6316"/>
            </a:avLst>
          </a:prstGeom>
          <a:solidFill>
            <a:schemeClr val="bg2"/>
          </a:solidFill>
          <a:ln/>
        </p:spPr>
      </p:sp>
      <p:sp>
        <p:nvSpPr>
          <p:cNvPr id="8" name="Text 6"/>
          <p:cNvSpPr txBox="1"/>
          <p:nvPr/>
        </p:nvSpPr>
        <p:spPr>
          <a:xfrm>
            <a:off x="822960" y="4114800"/>
            <a:ext cx="10515600" cy="1554480"/>
          </a:xfrm>
          <a:prstGeom prst="rect">
            <a:avLst/>
          </a:prstGeom>
          <a:noFill/>
          <a:ln/>
        </p:spPr>
        <p:txBody>
          <a:bodyPr wrap="square" lIns="0" tIns="0" rIns="0" bIns="0" rtlCol="0" anchor="ctr"/>
          <a:lstStyle/>
          <a:p>
            <a:pPr latinLnBrk="0" indent="0" marL="0">
              <a:spcAft>
                <a:spcPts val="600"/>
              </a:spcAft>
              <a:buNone/>
            </a:pPr>
            <a:r>
              <a:rPr lang="en-US" sz="1800" b="1" dirty="0">
                <a:solidFill>
                  <a:schemeClr val="tx2"/>
                </a:solidFill>
              </a:rPr>
              <a:t>큰따옴표와 작은따옴표는 같은 문자열입니다</a:t>
            </a:r>
            <a:endParaRPr lang="en-US" sz="1800" dirty="0"/>
          </a:p>
          <a:p>
            <a:pPr latinLnBrk="0" indent="0" marL="0">
              <a:spcAft>
                <a:spcPts val="600"/>
              </a:spcAft>
              <a:buNone/>
            </a:pPr>
            <a:r>
              <a:rPr lang="en-US" sz="1500" dirty="0">
                <a:solidFill>
                  <a:schemeClr val="tx1"/>
                </a:solidFill>
              </a:rPr>
              <a:t>어느 쪽을 쓰든 동작은 같으므로 하나로 통일합니다. 이 강의에서는 큰따옴표를 사용하며, Prettier의 Single Quote 설정을 끄면 저장할 때 큰따옴표로 자동 변환됩니다.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undefined와 null</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둘 다 값이 없다는 뜻이지만 의미가 다릅니다</a:t>
            </a:r>
            <a:endParaRPr lang="en-US" sz="1600" dirty="0"/>
          </a:p>
        </p:txBody>
      </p:sp>
      <p:sp>
        <p:nvSpPr>
          <p:cNvPr id="4" name="undef code"/>
          <p:cNvSpPr/>
          <p:nvPr/>
        </p:nvSpPr>
        <p:spPr>
          <a:xfrm>
            <a:off x="548640" y="1691640"/>
            <a:ext cx="5394960" cy="1828800"/>
          </a:xfrm>
          <a:prstGeom prst="roundRect">
            <a:avLst>
              <a:gd name="adj" fmla="val 5000"/>
            </a:avLst>
          </a:prstGeom>
          <a:solidFill>
            <a:srgbClr val="1E1E1E"/>
          </a:solidFill>
          <a:ln/>
        </p:spPr>
      </p:sp>
      <p:sp>
        <p:nvSpPr>
          <p:cNvPr id="5" name="Text 3"/>
          <p:cNvSpPr txBox="1"/>
          <p:nvPr/>
        </p:nvSpPr>
        <p:spPr>
          <a:xfrm>
            <a:off x="822960" y="1828800"/>
            <a:ext cx="48463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undefined</a:t>
            </a:r>
            <a:endParaRPr lang="en-US" sz="1200" dirty="0"/>
          </a:p>
        </p:txBody>
      </p:sp>
      <p:sp>
        <p:nvSpPr>
          <p:cNvPr id="6" name="Text 4"/>
          <p:cNvSpPr txBox="1"/>
          <p:nvPr/>
        </p:nvSpPr>
        <p:spPr>
          <a:xfrm>
            <a:off x="822960" y="2240280"/>
            <a:ext cx="4846320" cy="109728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nonInitialized;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값: undefined</a:t>
            </a:r>
            <a:endParaRPr lang="en-US" sz="1400" dirty="0"/>
          </a:p>
        </p:txBody>
      </p:sp>
      <p:sp>
        <p:nvSpPr>
          <p:cNvPr id="7" name="null code"/>
          <p:cNvSpPr/>
          <p:nvPr/>
        </p:nvSpPr>
        <p:spPr>
          <a:xfrm>
            <a:off x="6217920" y="1691640"/>
            <a:ext cx="5394960" cy="1828800"/>
          </a:xfrm>
          <a:prstGeom prst="roundRect">
            <a:avLst>
              <a:gd name="adj" fmla="val 5000"/>
            </a:avLst>
          </a:prstGeom>
          <a:solidFill>
            <a:srgbClr val="1E1E1E"/>
          </a:solidFill>
          <a:ln/>
        </p:spPr>
      </p:sp>
      <p:sp>
        <p:nvSpPr>
          <p:cNvPr id="8" name="Text 6"/>
          <p:cNvSpPr txBox="1"/>
          <p:nvPr/>
        </p:nvSpPr>
        <p:spPr>
          <a:xfrm>
            <a:off x="6492240" y="1828800"/>
            <a:ext cx="48463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null</a:t>
            </a:r>
            <a:endParaRPr lang="en-US" sz="1200" dirty="0"/>
          </a:p>
        </p:txBody>
      </p:sp>
      <p:sp>
        <p:nvSpPr>
          <p:cNvPr id="9" name="Text 7"/>
          <p:cNvSpPr txBox="1"/>
          <p:nvPr/>
        </p:nvSpPr>
        <p:spPr>
          <a:xfrm>
            <a:off x="6492240" y="2240280"/>
            <a:ext cx="4846320" cy="109728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y = null;</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타입: null</a:t>
            </a:r>
            <a:endParaRPr lang="en-US" sz="1400" dirty="0"/>
          </a:p>
        </p:txBody>
      </p:sp>
      <p:sp>
        <p:nvSpPr>
          <p:cNvPr id="10" name="undef card"/>
          <p:cNvSpPr/>
          <p:nvPr/>
        </p:nvSpPr>
        <p:spPr>
          <a:xfrm>
            <a:off x="548640" y="3749040"/>
            <a:ext cx="5394960" cy="2103120"/>
          </a:xfrm>
          <a:prstGeom prst="roundRect">
            <a:avLst>
              <a:gd name="adj" fmla="val 5217"/>
            </a:avLst>
          </a:prstGeom>
          <a:solidFill>
            <a:schemeClr val="bg2"/>
          </a:solidFill>
          <a:ln/>
        </p:spPr>
      </p:sp>
      <p:sp>
        <p:nvSpPr>
          <p:cNvPr id="11" name="Text 9"/>
          <p:cNvSpPr txBox="1"/>
          <p:nvPr/>
        </p:nvSpPr>
        <p:spPr>
          <a:xfrm>
            <a:off x="822960" y="3886200"/>
            <a:ext cx="4846320" cy="1828800"/>
          </a:xfrm>
          <a:prstGeom prst="rect">
            <a:avLst/>
          </a:prstGeom>
          <a:noFill/>
          <a:ln/>
        </p:spPr>
        <p:txBody>
          <a:bodyPr wrap="square" lIns="0" tIns="0" rIns="0" bIns="0" rtlCol="0" anchor="t"/>
          <a:lstStyle/>
          <a:p>
            <a:pPr latinLnBrk="0" indent="0" marL="0">
              <a:buNone/>
            </a:pPr>
            <a:r>
              <a:rPr lang="en-US" sz="1500" dirty="0">
                <a:solidFill>
                  <a:schemeClr val="tx1"/>
                </a:solidFill>
              </a:rPr>
              <a:t>변수를 선언했지만 값을 할당하지 않은 상태입니다. 나중에 조건에 따라 값을 정할 때 사용합니다. = undefined로 직접 할당하는 것은 권장하지 않습니다.</a:t>
            </a:r>
            <a:endParaRPr lang="en-US" sz="1500" dirty="0"/>
          </a:p>
        </p:txBody>
      </p:sp>
      <p:sp>
        <p:nvSpPr>
          <p:cNvPr id="12" name="null card"/>
          <p:cNvSpPr/>
          <p:nvPr/>
        </p:nvSpPr>
        <p:spPr>
          <a:xfrm>
            <a:off x="6217920" y="3749040"/>
            <a:ext cx="5394960" cy="2103120"/>
          </a:xfrm>
          <a:prstGeom prst="roundRect">
            <a:avLst>
              <a:gd name="adj" fmla="val 5217"/>
            </a:avLst>
          </a:prstGeom>
          <a:solidFill>
            <a:schemeClr val="bg2"/>
          </a:solidFill>
          <a:ln/>
        </p:spPr>
      </p:sp>
      <p:sp>
        <p:nvSpPr>
          <p:cNvPr id="13" name="Text 11"/>
          <p:cNvSpPr txBox="1"/>
          <p:nvPr/>
        </p:nvSpPr>
        <p:spPr>
          <a:xfrm>
            <a:off x="6492240" y="3886200"/>
            <a:ext cx="4846320" cy="1828800"/>
          </a:xfrm>
          <a:prstGeom prst="rect">
            <a:avLst/>
          </a:prstGeom>
          <a:noFill/>
          <a:ln/>
        </p:spPr>
        <p:txBody>
          <a:bodyPr wrap="square" lIns="0" tIns="0" rIns="0" bIns="0" rtlCol="0" anchor="t"/>
          <a:lstStyle/>
          <a:p>
            <a:pPr latinLnBrk="0" indent="0" marL="0">
              <a:buNone/>
            </a:pPr>
            <a:r>
              <a:rPr lang="en-US" sz="1500" dirty="0">
                <a:solidFill>
                  <a:schemeClr val="tx1"/>
                </a:solidFill>
              </a:rPr>
              <a:t>값이 없다는 것을 명시적으로 나타냅니다. 개발자가 의도적으로 '아무것도 없음'을 할당한 상태입니다.</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타입 주석과 유니언 타입</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변수 이름 뒤에 콜론(:)을 붙여 타입을 직접 지정합니다</a:t>
            </a:r>
            <a:endParaRPr lang="en-US" sz="1600" dirty="0"/>
          </a:p>
        </p:txBody>
      </p:sp>
      <p:sp>
        <p:nvSpPr>
          <p:cNvPr id="4" name="union code"/>
          <p:cNvSpPr/>
          <p:nvPr/>
        </p:nvSpPr>
        <p:spPr>
          <a:xfrm>
            <a:off x="548640" y="1691640"/>
            <a:ext cx="6675120" cy="3108960"/>
          </a:xfrm>
          <a:prstGeom prst="roundRect">
            <a:avLst>
              <a:gd name="adj" fmla="val 2941"/>
            </a:avLst>
          </a:prstGeom>
          <a:solidFill>
            <a:srgbClr val="1E1E1E"/>
          </a:solidFill>
          <a:ln/>
        </p:spPr>
      </p:sp>
      <p:sp>
        <p:nvSpPr>
          <p:cNvPr id="5" name="Text 3"/>
          <p:cNvSpPr txBox="1"/>
          <p:nvPr/>
        </p:nvSpPr>
        <p:spPr>
          <a:xfrm>
            <a:off x="822960" y="1828800"/>
            <a:ext cx="61264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6126480" cy="23774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value: number | undefined;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value = 5;          // 가능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value = undefined;  // 가능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value = null;       // 오류</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value2: number | string | null;</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value2 = null;      // 가능</a:t>
            </a:r>
            <a:endParaRPr lang="en-US" sz="1400" dirty="0"/>
          </a:p>
        </p:txBody>
      </p:sp>
      <p:sp>
        <p:nvSpPr>
          <p:cNvPr id="7" name="union card"/>
          <p:cNvSpPr/>
          <p:nvPr/>
        </p:nvSpPr>
        <p:spPr>
          <a:xfrm>
            <a:off x="7498080" y="1691640"/>
            <a:ext cx="4114800" cy="3108960"/>
          </a:xfrm>
          <a:prstGeom prst="roundRect">
            <a:avLst>
              <a:gd name="adj" fmla="val 3529"/>
            </a:avLst>
          </a:prstGeom>
          <a:solidFill>
            <a:schemeClr val="bg2"/>
          </a:solidFill>
          <a:ln/>
        </p:spPr>
      </p:sp>
      <p:sp>
        <p:nvSpPr>
          <p:cNvPr id="8" name="Text 6"/>
          <p:cNvSpPr txBox="1"/>
          <p:nvPr/>
        </p:nvSpPr>
        <p:spPr>
          <a:xfrm>
            <a:off x="7726680" y="1828800"/>
            <a:ext cx="3657600" cy="2834640"/>
          </a:xfrm>
          <a:prstGeom prst="rect">
            <a:avLst/>
          </a:prstGeom>
          <a:noFill/>
          <a:ln/>
        </p:spPr>
        <p:txBody>
          <a:bodyPr wrap="square" lIns="0" tIns="0" rIns="0" bIns="0" rtlCol="0" anchor="t"/>
          <a:lstStyle/>
          <a:p>
            <a:pPr latinLnBrk="0" indent="0" marL="0">
              <a:spcAft>
                <a:spcPts val="800"/>
              </a:spcAft>
              <a:buNone/>
            </a:pPr>
            <a:r>
              <a:rPr lang="en-US" sz="1800" b="1" dirty="0">
                <a:solidFill>
                  <a:schemeClr val="tx2"/>
                </a:solidFill>
              </a:rPr>
              <a:t>유니언 타입</a:t>
            </a:r>
            <a:endParaRPr lang="en-US" sz="1800" dirty="0"/>
          </a:p>
          <a:p>
            <a:pPr latinLnBrk="0" indent="0" marL="0">
              <a:spcAft>
                <a:spcPts val="800"/>
              </a:spcAft>
              <a:buNone/>
            </a:pPr>
            <a:r>
              <a:rPr lang="en-US" sz="1500" dirty="0">
                <a:solidFill>
                  <a:schemeClr val="tx1"/>
                </a:solidFill>
              </a:rPr>
              <a:t>| 기호로 여러 타입을 연결하여, 변수가 그중 하나의 타입을 가질 수 있도록 합니다.</a:t>
            </a:r>
            <a:endParaRPr lang="en-US" sz="1800" dirty="0"/>
          </a:p>
        </p:txBody>
      </p:sp>
      <p:sp>
        <p:nvSpPr>
          <p:cNvPr id="9" name="Text 7"/>
          <p:cNvSpPr txBox="1"/>
          <p:nvPr/>
        </p:nvSpPr>
        <p:spPr>
          <a:xfrm>
            <a:off x="548640" y="507492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타입 주석은 TypeScript 파일에서만 사용할 수 있습니다. JavaScript 파일에 쓰면 오류가 발생합니다.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any 타입</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타입 검사를 사실상 끄는 타입으로, 사용하지 않습니다</a:t>
            </a:r>
            <a:endParaRPr lang="en-US" sz="1600" dirty="0"/>
          </a:p>
        </p:txBody>
      </p:sp>
      <p:sp>
        <p:nvSpPr>
          <p:cNvPr id="4" name="any code"/>
          <p:cNvSpPr/>
          <p:nvPr/>
        </p:nvSpPr>
        <p:spPr>
          <a:xfrm>
            <a:off x="548640" y="1691640"/>
            <a:ext cx="5394960" cy="2194560"/>
          </a:xfrm>
          <a:prstGeom prst="roundRect">
            <a:avLst>
              <a:gd name="adj" fmla="val 4167"/>
            </a:avLst>
          </a:prstGeom>
          <a:solidFill>
            <a:srgbClr val="1E1E1E"/>
          </a:solidFill>
          <a:ln/>
        </p:spPr>
      </p:sp>
      <p:sp>
        <p:nvSpPr>
          <p:cNvPr id="5" name="Text 3"/>
          <p:cNvSpPr txBox="1"/>
          <p:nvPr/>
        </p:nvSpPr>
        <p:spPr>
          <a:xfrm>
            <a:off x="822960" y="1828800"/>
            <a:ext cx="48463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4846320" cy="14630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z: any = 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z = true;     // 오류 없음</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z = "text";   // 오류 없음</a:t>
            </a:r>
            <a:endParaRPr lang="en-US" sz="1400" dirty="0"/>
          </a:p>
        </p:txBody>
      </p:sp>
      <p:sp>
        <p:nvSpPr>
          <p:cNvPr id="7" name="any card"/>
          <p:cNvSpPr/>
          <p:nvPr/>
        </p:nvSpPr>
        <p:spPr>
          <a:xfrm>
            <a:off x="6217920" y="1691640"/>
            <a:ext cx="5394960" cy="2194560"/>
          </a:xfrm>
          <a:prstGeom prst="roundRect">
            <a:avLst>
              <a:gd name="adj" fmla="val 5000"/>
            </a:avLst>
          </a:prstGeom>
          <a:solidFill>
            <a:schemeClr val="bg2"/>
          </a:solidFill>
          <a:ln/>
        </p:spPr>
      </p:sp>
      <p:sp>
        <p:nvSpPr>
          <p:cNvPr id="8" name="Text 6"/>
          <p:cNvSpPr txBox="1"/>
          <p:nvPr/>
        </p:nvSpPr>
        <p:spPr>
          <a:xfrm>
            <a:off x="6446520" y="1828800"/>
            <a:ext cx="4937760" cy="192024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any를 피해야 하는 이유</a:t>
            </a:r>
            <a:endParaRPr lang="en-US" sz="1400" dirty="0"/>
          </a:p>
          <a:p>
            <a:pPr latinLnBrk="0" marL="342900" indent="-342900">
              <a:spcAft>
                <a:spcPts val="600"/>
              </a:spcAft>
              <a:buSzPct val="100000"/>
              <a:buChar char="•"/>
            </a:pPr>
            <a:r>
              <a:rPr lang="en-US" sz="1400" dirty="0">
                <a:solidFill>
                  <a:schemeClr val="tx1"/>
                </a:solidFill>
              </a:rPr>
              <a:t>어떤 값이든 할당할 수 있어 TypeScript를 사용하는 의미가 없어집니다.</a:t>
            </a:r>
            <a:endParaRPr lang="en-US" sz="1400" dirty="0"/>
          </a:p>
          <a:p>
            <a:pPr latinLnBrk="0" marL="342900" indent="-342900">
              <a:spcAft>
                <a:spcPts val="600"/>
              </a:spcAft>
              <a:buSzPct val="100000"/>
              <a:buChar char="•"/>
            </a:pPr>
            <a:r>
              <a:rPr lang="en-US" sz="1400" dirty="0">
                <a:solidFill>
                  <a:schemeClr val="tx1"/>
                </a:solidFill>
              </a:rPr>
              <a:t>초기화하지 않은 변수는 any가 될 수 있으므로 타입을 지정합니다.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11강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원시 타입과 유니언 타입</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AI 코딩 도구에 요청하여 코드를 생성하고, 생성된 코드를 읽고 실행해 봅니다</a:t>
            </a:r>
            <a:endParaRPr lang="en-US" sz="1600" dirty="0"/>
          </a:p>
        </p:txBody>
      </p:sp>
      <p:graphicFrame>
        <p:nvGraphicFramePr>
          <p:cNvPr id="23" name="task11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97280"/>
                <a:gridCol w="9966960"/>
              </a:tblGrid>
              <a:tr h="54864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내용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string 타입의 변수를 선언합니다 (타입을 명시적으로 선언)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string 또는 number가 될 수 있는 변수를 선언합니다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3</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string 또는 null이 될 수 있는 변수를 선언합니다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4</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초기화하지 않은 string 타입의 변수를 선언합니다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48056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var는 사용하지 않고 let 또는 const를 사용합니다.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변수를 초기화할 때는 TypeScript가 타입을 추론하도록 맡기는 것이 좋습니다</a:t>
            </a:r>
            <a:endParaRPr lang="en-US" sz="1600" dirty="0"/>
          </a:p>
        </p:txBody>
      </p:sp>
      <p:sp>
        <p:nvSpPr>
          <p:cNvPr id="4" name="answer11 code"/>
          <p:cNvSpPr/>
          <p:nvPr/>
        </p:nvSpPr>
        <p:spPr>
          <a:xfrm>
            <a:off x="548640" y="1691640"/>
            <a:ext cx="6675120" cy="3383280"/>
          </a:xfrm>
          <a:prstGeom prst="roundRect">
            <a:avLst>
              <a:gd name="adj" fmla="val 2703"/>
            </a:avLst>
          </a:prstGeom>
          <a:solidFill>
            <a:srgbClr val="1E1E1E"/>
          </a:solidFill>
          <a:ln/>
        </p:spPr>
      </p:sp>
      <p:sp>
        <p:nvSpPr>
          <p:cNvPr id="5" name="Text 3"/>
          <p:cNvSpPr txBox="1"/>
          <p:nvPr/>
        </p:nvSpPr>
        <p:spPr>
          <a:xfrm>
            <a:off x="822960" y="1828800"/>
            <a:ext cx="61264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6126480" cy="265176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1</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x: string =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2</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y: string | number = 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3</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z: string | null = null;</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4</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a: string | undefined;</a:t>
            </a:r>
            <a:endParaRPr lang="en-US" sz="1400" dirty="0"/>
          </a:p>
        </p:txBody>
      </p:sp>
      <p:sp>
        <p:nvSpPr>
          <p:cNvPr id="7" name="answer11 card"/>
          <p:cNvSpPr/>
          <p:nvPr/>
        </p:nvSpPr>
        <p:spPr>
          <a:xfrm>
            <a:off x="7498080" y="1691640"/>
            <a:ext cx="4114800" cy="3383280"/>
          </a:xfrm>
          <a:prstGeom prst="roundRect">
            <a:avLst>
              <a:gd name="adj" fmla="val 3243"/>
            </a:avLst>
          </a:prstGeom>
          <a:solidFill>
            <a:schemeClr val="bg2"/>
          </a:solidFill>
          <a:ln/>
        </p:spPr>
      </p:sp>
      <p:sp>
        <p:nvSpPr>
          <p:cNvPr id="8" name="Text 6"/>
          <p:cNvSpPr txBox="1"/>
          <p:nvPr/>
        </p:nvSpPr>
        <p:spPr>
          <a:xfrm>
            <a:off x="7726680" y="1828800"/>
            <a:ext cx="3657600" cy="3108960"/>
          </a:xfrm>
          <a:prstGeom prst="rect">
            <a:avLst/>
          </a:prstGeom>
          <a:noFill/>
          <a:ln/>
        </p:spPr>
        <p:txBody>
          <a:bodyPr wrap="square" lIns="0" tIns="0" rIns="0" bIns="0" rtlCol="0" anchor="t"/>
          <a:lstStyle/>
          <a:p>
            <a:pPr latinLnBrk="0" indent="0" marL="0">
              <a:spcAft>
                <a:spcPts val="800"/>
              </a:spcAft>
              <a:buNone/>
            </a:pPr>
            <a:r>
              <a:rPr lang="en-US" sz="1800" b="1" dirty="0">
                <a:solidFill>
                  <a:schemeClr val="tx2"/>
                </a:solidFill>
              </a:rPr>
              <a:t>과제 4의 핵심</a:t>
            </a:r>
            <a:endParaRPr lang="en-US" sz="1800" dirty="0"/>
          </a:p>
          <a:p>
            <a:pPr latinLnBrk="0" indent="0" marL="0">
              <a:spcAft>
                <a:spcPts val="800"/>
              </a:spcAft>
              <a:buNone/>
            </a:pPr>
            <a:r>
              <a:rPr lang="en-US" sz="1400" dirty="0">
                <a:solidFill>
                  <a:schemeClr val="tx1"/>
                </a:solidFill>
              </a:rPr>
              <a:t>let a; 만 쓰면 any가 됩니다. string만 지정하면 실제 값인 undefined와 맞지 않으므로 string | undefined로 지정합니다.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12강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산술 연산자, 단항 연산자, NaN</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산술 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const x = 5, y = 10 일 때</a:t>
            </a:r>
            <a:endParaRPr lang="en-US" sz="1600" dirty="0"/>
          </a:p>
        </p:txBody>
      </p:sp>
      <p:graphicFrame>
        <p:nvGraphicFramePr>
          <p:cNvPr id="26" name="arith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4114800"/>
                <a:gridCol w="4206240"/>
              </a:tblGrid>
              <a:tr h="457200">
                <a:tc>
                  <a:txBody>
                    <a:bodyPr/>
                    <a:lstStyle/>
                    <a:p>
                      <a:pPr latinLnBrk="0" indent="0" marL="0">
                        <a:buNone/>
                      </a:pPr>
                      <a:r>
                        <a:rPr lang="en-US" sz="1500" b="1" dirty="0">
                          <a:solidFill>
                            <a:schemeClr val="bg1"/>
                          </a:solidFill>
                        </a:rPr>
                        <a:t>연산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코드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결과</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57200">
                <a:tc>
                  <a:txBody>
                    <a:bodyPr/>
                    <a:lstStyle/>
                    <a:p>
                      <a:pPr latinLnBrk="0" indent="0" marL="0">
                        <a:buNone/>
                      </a:pPr>
                      <a:r>
                        <a:rPr lang="en-US" sz="1500" b="1" dirty="0">
                          <a:solidFill>
                            <a:schemeClr val="tx2"/>
                          </a:solidFill>
                        </a:rPr>
                        <a:t>덧셈</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뺄셈</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곱셈</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나눗셈</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0.5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나머지</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거듭제곱</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9765625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07492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 는 거듭제곱이 아니라 비트 연산자입니다. x ^ y 의 결과는 15입니다.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타입 강제 변환과 NaN</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JavaScript는 숫자가 아닌 값에도 산술 연산을 허용합니다</a:t>
            </a:r>
            <a:endParaRPr lang="en-US" sz="1600" dirty="0"/>
          </a:p>
        </p:txBody>
      </p:sp>
      <p:graphicFrame>
        <p:nvGraphicFramePr>
          <p:cNvPr id="27" name="coerc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2194560"/>
                <a:gridCol w="6126480"/>
              </a:tblGrid>
              <a:tr h="548640">
                <a:tc>
                  <a:txBody>
                    <a:bodyPr/>
                    <a:lstStyle/>
                    <a:p>
                      <a:pPr latinLnBrk="0" indent="0" marL="0">
                        <a:buNone/>
                      </a:pPr>
                      <a:r>
                        <a:rPr lang="en-US" sz="1500" b="1" dirty="0">
                          <a:solidFill>
                            <a:schemeClr val="bg1"/>
                          </a:solidFill>
                        </a:rPr>
                        <a:t>코드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결과</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설명</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5 + ""</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 5가 문자열로 변환된 뒤 연결됩니다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5 + "asd"</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"5asd"</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 는 문자열 연결에도 사용됩니다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"asd" * 2</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숫자로 표현할 수 없는 값 (TypeScript는 오류 표시)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nan card"/>
          <p:cNvSpPr/>
          <p:nvPr/>
        </p:nvSpPr>
        <p:spPr>
          <a:xfrm>
            <a:off x="548640" y="4023360"/>
            <a:ext cx="11064240" cy="1737360"/>
          </a:xfrm>
          <a:prstGeom prst="roundRect">
            <a:avLst>
              <a:gd name="adj" fmla="val 6316"/>
            </a:avLst>
          </a:prstGeom>
          <a:solidFill>
            <a:schemeClr val="bg2"/>
          </a:solidFill>
          <a:ln/>
        </p:spPr>
      </p:sp>
      <p:sp>
        <p:nvSpPr>
          <p:cNvPr id="6" name="Text 3"/>
          <p:cNvSpPr txBox="1"/>
          <p:nvPr/>
        </p:nvSpPr>
        <p:spPr>
          <a:xfrm>
            <a:off x="822960" y="4114800"/>
            <a:ext cx="10515600" cy="1554480"/>
          </a:xfrm>
          <a:prstGeom prst="rect">
            <a:avLst/>
          </a:prstGeom>
          <a:noFill/>
          <a:ln/>
        </p:spPr>
        <p:txBody>
          <a:bodyPr wrap="square" lIns="0" tIns="0" rIns="0" bIns="0" rtlCol="0" anchor="ctr"/>
          <a:lstStyle/>
          <a:p>
            <a:pPr latinLnBrk="0" indent="0" marL="0">
              <a:spcAft>
                <a:spcPts val="600"/>
              </a:spcAft>
              <a:buNone/>
            </a:pPr>
            <a:r>
              <a:rPr lang="en-US" sz="1800" b="1" dirty="0">
                <a:solidFill>
                  <a:schemeClr val="tx2"/>
                </a:solidFill>
              </a:rPr>
              <a:t>강제 변환(coercion)과 NaN</a:t>
            </a:r>
            <a:endParaRPr lang="en-US" sz="1800" dirty="0"/>
          </a:p>
          <a:p>
            <a:pPr latinLnBrk="0" indent="0" marL="0">
              <a:spcAft>
                <a:spcPts val="600"/>
              </a:spcAft>
              <a:buNone/>
            </a:pPr>
            <a:r>
              <a:rPr lang="en-US" sz="1500" dirty="0">
                <a:solidFill>
                  <a:schemeClr val="tx1"/>
                </a:solidFill>
              </a:rPr>
              <a:t>강제 변환은 한 타입의 값을 다른 타입으로 바꾸는 것입니다. NaN(Not a Number)은 숫자로 표현할 수 없는 값을 나타내며, 타입은 number입니다.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템플릿 리터럴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백틱 안에서 ${ } 로 값을 넣어 문자열을 만듭니다</a:t>
            </a:r>
            <a:endParaRPr lang="en-US" sz="1600" dirty="0"/>
          </a:p>
        </p:txBody>
      </p:sp>
      <p:sp>
        <p:nvSpPr>
          <p:cNvPr id="4" name="template code"/>
          <p:cNvSpPr/>
          <p:nvPr/>
        </p:nvSpPr>
        <p:spPr>
          <a:xfrm>
            <a:off x="548640" y="1691640"/>
            <a:ext cx="11064240" cy="2377440"/>
          </a:xfrm>
          <a:prstGeom prst="roundRect">
            <a:avLst>
              <a:gd name="adj" fmla="val 3846"/>
            </a:avLst>
          </a:prstGeom>
          <a:solidFill>
            <a:srgbClr val="1E1E1E"/>
          </a:solidFill>
          <a:ln/>
        </p:spPr>
      </p:sp>
      <p:sp>
        <p:nvSpPr>
          <p:cNvPr id="5" name="Text 3"/>
          <p:cNvSpPr txBox="1"/>
          <p:nvPr/>
        </p:nvSpPr>
        <p:spPr>
          <a:xfrm>
            <a:off x="822960" y="182880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10515600" cy="16459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x = 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y = 10;</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console.log(`${x} ${y} 125`);        // 5 10 125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console.log("" + x + " " + y + " " + 125);  // 같은 결과</a:t>
            </a:r>
            <a:endParaRPr lang="en-US" sz="1400" dirty="0"/>
          </a:p>
        </p:txBody>
      </p:sp>
      <p:sp>
        <p:nvSpPr>
          <p:cNvPr id="7" name="Text 5"/>
          <p:cNvSpPr txBox="1"/>
          <p:nvPr/>
        </p:nvSpPr>
        <p:spPr>
          <a:xfrm>
            <a:off x="548640" y="434340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 연산자는 덧셈과 문자열 연결을 모두 하므로 혼동하기 쉽습니다. 문자열을 만들 때는 템플릿 리터럴을 사용합니다.</a:t>
            </a:r>
            <a:endParaRPr lang="en-US" sz="1400" dirty="0"/>
          </a:p>
        </p:txBody>
      </p:sp>
      <p:sp>
        <p:nvSpPr>
          <p:cNvPr id="8" name="Text 6"/>
          <p:cNvSpPr txBox="1"/>
          <p:nvPr/>
        </p:nvSpPr>
        <p:spPr>
          <a:xfrm>
            <a:off x="548640" y="484632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console.log()는 괄호 안의 값을 콘솔에 출력합니다.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증감 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변수의 값을 1만큼 증가시키거나 감소시킵니다 (let a = 10 일 때)</a:t>
            </a:r>
            <a:endParaRPr lang="en-US" sz="1600" dirty="0"/>
          </a:p>
        </p:txBody>
      </p:sp>
      <p:graphicFrame>
        <p:nvGraphicFramePr>
          <p:cNvPr id="29" name="unary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737360"/>
                <a:gridCol w="2834640"/>
                <a:gridCol w="1645920"/>
                <a:gridCol w="1463040"/>
                <a:gridCol w="3383280"/>
              </a:tblGrid>
              <a:tr h="548640">
                <a:tc>
                  <a:txBody>
                    <a:bodyPr/>
                    <a:lstStyle/>
                    <a:p>
                      <a:pPr latinLnBrk="0" indent="0" marL="0">
                        <a:buNone/>
                      </a:pPr>
                      <a:r>
                        <a:rPr lang="en-US" sz="1400" b="1" dirty="0">
                          <a:solidFill>
                            <a:schemeClr val="bg1"/>
                          </a:solidFill>
                        </a:rPr>
                        <a:t>연산자</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코드</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출력되는 값</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실행 후 a</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동작</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400" b="1" dirty="0">
                          <a:solidFill>
                            <a:schemeClr val="tx2"/>
                          </a:solidFill>
                        </a:rPr>
                        <a:t>후위 증가</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console.log(a++)</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10</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11</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값을 먼저 사용한 뒤 1 증가</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400" b="1" dirty="0">
                          <a:solidFill>
                            <a:schemeClr val="tx2"/>
                          </a:solidFill>
                        </a:rPr>
                        <a:t>전위 증가</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console.log(++a)</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11</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11</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1 증가한 뒤 값을 사용</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400" b="1" dirty="0">
                          <a:solidFill>
                            <a:schemeClr val="tx2"/>
                          </a:solidFill>
                        </a:rPr>
                        <a:t>후위 감소</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console.log(a--)</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10</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9</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값을 먼저 사용한 뒤 1 감소</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400" b="1" dirty="0">
                          <a:solidFill>
                            <a:schemeClr val="tx2"/>
                          </a:solidFill>
                        </a:rPr>
                        <a:t>전위 감소</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console.log(--a)</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9</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latin typeface="Consolas" pitchFamily="34" charset="0"/>
                          <a:ea typeface="Consolas" pitchFamily="34" charset="-122"/>
                          <a:cs typeface="Consolas" pitchFamily="34" charset="-120"/>
                        </a:rPr>
                        <a:t>9</a:t>
                      </a:r>
                      <a:endParaRPr lang="en-US" sz="14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1 감소한 뒤 값을 사용</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48056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a++ 는 a = a + 1 과 같은 결과를 냅니다.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13강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숫자로 변환하기</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숫자로 변환하는 방법</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입력 문자열에 따라 결과가 다릅니다</a:t>
            </a:r>
            <a:endParaRPr lang="en-US" sz="1600" dirty="0"/>
          </a:p>
        </p:txBody>
      </p:sp>
      <p:graphicFrame>
        <p:nvGraphicFramePr>
          <p:cNvPr id="31" name="tonumber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2560320"/>
                <a:gridCol w="2651760"/>
                <a:gridCol w="2560320"/>
              </a:tblGrid>
              <a:tr h="548640">
                <a:tc>
                  <a:txBody>
                    <a:bodyPr/>
                    <a:lstStyle/>
                    <a:p>
                      <a:pPr latinLnBrk="0" indent="0" marL="0">
                        <a:buNone/>
                      </a:pPr>
                      <a:r>
                        <a:rPr lang="en-US" sz="1500" b="1" dirty="0">
                          <a:solidFill>
                            <a:schemeClr val="bg1"/>
                          </a:solidFill>
                        </a:rPr>
                        <a:t>방법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"20.5"</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"555.25abc"</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"abc"</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20.5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parseInt("...")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20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555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parseFloat("...")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20.5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555.25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Number("...")</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20.5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graphicFrame>
        <p:nvGraphicFramePr>
          <p:cNvPr id="61" name="usage table"/>
          <p:cNvGraphicFramePr>
            <a:graphicFrameLocks noGrp="1"/>
          </p:cNvGraphicFramePr>
          <p:nvPr>
            <p:extLst>
              <p:ext uri="{D42A27DB-BD31-4B8C-83A1-F6EECF244321}">
                <p14:modId xmlns:p14="http://schemas.microsoft.com/office/powerpoint/2010/main" val="1579011935"/>
              </p:ext>
            </p:extLst>
          </p:nvPr>
        </p:nvGraphicFramePr>
        <p:xfrm>
          <a:off x="548640" y="4526280"/>
          <a:ext cx="11064240" cy="914400"/>
        </p:xfrm>
        <a:graphic>
          <a:graphicData uri="http://schemas.openxmlformats.org/drawingml/2006/table">
            <a:tbl>
              <a:tblPr/>
              <a:tblGrid>
                <a:gridCol w="4572000"/>
                <a:gridCol w="6492240"/>
              </a:tblGrid>
              <a:tr h="411480">
                <a:tc>
                  <a:txBody>
                    <a:bodyPr/>
                    <a:lstStyle/>
                    <a:p>
                      <a:pPr latinLnBrk="0" indent="0" marL="0">
                        <a:buNone/>
                      </a:pPr>
                      <a:r>
                        <a:rPr lang="en-US" sz="1400" b="1" dirty="0">
                          <a:solidFill>
                            <a:schemeClr val="bg1"/>
                          </a:solidFill>
                        </a:rPr>
                        <a:t>상황</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400" b="1" dirty="0">
                          <a:solidFill>
                            <a:schemeClr val="bg1"/>
                          </a:solidFill>
                        </a:rPr>
                        <a:t>사용할 방법</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11480">
                <a:tc>
                  <a:txBody>
                    <a:bodyPr/>
                    <a:lstStyle/>
                    <a:p>
                      <a:pPr latinLnBrk="0" indent="0" marL="0">
                        <a:buNone/>
                      </a:pPr>
                      <a:r>
                        <a:rPr lang="en-US" sz="1400" b="1" dirty="0">
                          <a:solidFill>
                            <a:schemeClr val="tx2"/>
                          </a:solidFill>
                        </a:rPr>
                        <a:t>정수만 필요할 때</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parseInt</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11480">
                <a:tc>
                  <a:txBody>
                    <a:bodyPr/>
                    <a:lstStyle/>
                    <a:p>
                      <a:pPr latinLnBrk="0" indent="0" marL="0">
                        <a:buNone/>
                      </a:pPr>
                      <a:r>
                        <a:rPr lang="en-US" sz="1400" b="1" dirty="0">
                          <a:solidFill>
                            <a:schemeClr val="tx2"/>
                          </a:solidFill>
                        </a:rPr>
                        <a:t>소수점이 포함된 숫자가 필요할 때</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parseFloat 또는 Number</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11480">
                <a:tc>
                  <a:txBody>
                    <a:bodyPr/>
                    <a:lstStyle/>
                    <a:p>
                      <a:pPr latinLnBrk="0" indent="0" marL="0">
                        <a:buNone/>
                      </a:pPr>
                      <a:r>
                        <a:rPr lang="en-US" sz="1400" b="1" dirty="0">
                          <a:solidFill>
                            <a:schemeClr val="tx2"/>
                          </a:solidFill>
                        </a:rPr>
                        <a:t>boolean을 숫자로 바꿀 때</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400" dirty="0">
                          <a:solidFill>
                            <a:schemeClr val="tx1"/>
                          </a:solidFill>
                        </a:rPr>
                        <a:t>Number(true) → 1, Number(false) → 0</a:t>
                      </a:r>
                      <a:endParaRPr lang="en-US" sz="14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14강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Infinity</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Infinity</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무한대를 나타내는 전역 값으로, 타입은 number입니다</a:t>
            </a:r>
            <a:endParaRPr lang="en-US" sz="1600" dirty="0"/>
          </a:p>
        </p:txBody>
      </p:sp>
      <p:graphicFrame>
        <p:nvGraphicFramePr>
          <p:cNvPr id="33" name="inf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572000"/>
                <a:gridCol w="6492240"/>
              </a:tblGrid>
              <a:tr h="502920">
                <a:tc>
                  <a:txBody>
                    <a:bodyPr/>
                    <a:lstStyle/>
                    <a:p>
                      <a:pPr latinLnBrk="0" indent="0" marL="0">
                        <a:buNone/>
                      </a:pPr>
                      <a:r>
                        <a:rPr lang="en-US" sz="1500" b="1" dirty="0">
                          <a:solidFill>
                            <a:schemeClr val="bg1"/>
                          </a:solidFill>
                        </a:rPr>
                        <a:t>코드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결과</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1 / 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Infinity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Infinity + 1</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Infinity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10 / Infinity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-Infinity</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-Infinity (음의 무한대)</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34340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아주 큰 수로 연산하지 않는 한 자주 만나지는 않지만, Infinity도 숫자이므로 산술 연산이 가능합니다.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15강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복합 대입 연산자</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복합 대입 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연산과 대입을 한 번에 수행합니다 (let x = 5 에서 차례로 실행)</a:t>
            </a:r>
            <a:endParaRPr lang="en-US" sz="1600" dirty="0"/>
          </a:p>
        </p:txBody>
      </p:sp>
      <p:graphicFrame>
        <p:nvGraphicFramePr>
          <p:cNvPr id="35" name="compound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4114800"/>
                <a:gridCol w="3657600"/>
              </a:tblGrid>
              <a:tr h="502920">
                <a:tc>
                  <a:txBody>
                    <a:bodyPr/>
                    <a:lstStyle/>
                    <a:p>
                      <a:pPr latinLnBrk="0" indent="0" marL="0">
                        <a:buNone/>
                      </a:pPr>
                      <a:r>
                        <a:rPr lang="en-US" sz="1500" b="1" dirty="0">
                          <a:solidFill>
                            <a:schemeClr val="bg1"/>
                          </a:solidFill>
                        </a:rPr>
                        <a:t>코드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같은 의미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실행 후 x</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x += 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x + 5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x *= 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x * 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100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x /= 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x / 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x **= 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x = x ** 10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10000000000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34340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x += 5 + 10 * 20 처럼 쓰면 오른쪽 식을 먼저 계산한 뒤(205) x에 더합니다. -= 도 같은 방식입니다.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16강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정리 실습</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AI 코딩 도구에 요청하여 코드를 생성하고, 생성된 코드를 읽고 실행해 봅니다</a:t>
            </a:r>
            <a:endParaRPr lang="en-US" sz="1600" dirty="0"/>
          </a:p>
        </p:txBody>
      </p:sp>
      <p:graphicFrame>
        <p:nvGraphicFramePr>
          <p:cNvPr id="37" name="task16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97280"/>
                <a:gridCol w="9966960"/>
              </a:tblGrid>
              <a:tr h="50292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내용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숫자를 1만큼 증가시키는 여러 방법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숫자를 1만큼 감소시키는 여러 방법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3</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 20을 문자열로 변환하는 여러 방법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4</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문자열 "20.5"를 숫자로 변환하는 여러 방법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5</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숫자에 문자열 "20"을 복합 대입 연산자로 곱하기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같은 결과를 얻는 방법이 여러 가지입니다</a:t>
            </a:r>
            <a:endParaRPr lang="en-US" sz="1600" dirty="0"/>
          </a:p>
        </p:txBody>
      </p:sp>
      <p:graphicFrame>
        <p:nvGraphicFramePr>
          <p:cNvPr id="38" name="answer16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560320"/>
                <a:gridCol w="8503920"/>
              </a:tblGrid>
              <a:tr h="50292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풀이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rPr>
                        <a:t>과제 1 (증가)</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num++,  num = num + 1,  num += 1</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과제 2 (감소)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num--,  --num,  num -= 1</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과제 3 (문자열)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20 + "",  `${20}`,  String(20)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과제 4 (숫자)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parseFloat("20.5"),  +"20.5",  Number("20.5")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과제 5 (곱하기)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number *= parseInt("20"),  number *= +"20"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ctr"/>
          <a:lstStyle/>
          <a:p>
            <a:pPr latinLnBrk="0" algn="l" indent="0" marL="0">
              <a:buNone/>
            </a:pPr>
            <a:r>
              <a:rPr lang="en-US" sz="4400" b="1" dirty="0">
                <a:solidFill>
                  <a:schemeClr val="bg1"/>
                </a:solidFill>
              </a:rPr>
              <a:t>Section 2 정리</a:t>
            </a:r>
            <a:endParaRPr lang="en-US" sz="44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nchor="t"/>
          <a:lstStyle/>
          <a:p>
            <a:pPr latinLnBrk="0" indent="0" marL="0">
              <a:buNone/>
            </a:pPr>
            <a:r>
              <a:rPr lang="en-US" sz="2200" dirty="0">
                <a:solidFill>
                  <a:srgbClr val="F4B183"/>
                </a:solidFill>
              </a:rPr>
              <a:t>다음 섹션: 제어문</a:t>
            </a:r>
            <a:endParaRPr lang="en-US" sz="2200" dirty="0"/>
          </a:p>
        </p:txBody>
      </p:sp>
      <p:sp>
        <p:nvSpPr>
          <p:cNvPr id="4" name="done 1"/>
          <p:cNvSpPr/>
          <p:nvPr/>
        </p:nvSpPr>
        <p:spPr>
          <a:xfrm>
            <a:off x="731520" y="4663440"/>
            <a:ext cx="2514600" cy="822960"/>
          </a:xfrm>
          <a:prstGeom prst="roundRect">
            <a:avLst>
              <a:gd name="adj" fmla="val 13333"/>
            </a:avLst>
          </a:prstGeom>
          <a:solidFill>
            <a:schemeClr val="accent1"/>
          </a:solidFill>
          <a:ln w="12700">
            <a:solidFill>
              <a:srgbClr val="8EA9DB"/>
            </a:solidFill>
            <a:prstDash val="solid"/>
          </a:ln>
        </p:spPr>
      </p:sp>
      <p:sp>
        <p:nvSpPr>
          <p:cNvPr id="5" name="Text 3"/>
          <p:cNvSpPr txBox="1"/>
          <p:nvPr/>
        </p:nvSpPr>
        <p:spPr>
          <a:xfrm>
            <a:off x="9144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const 기본 사용</a:t>
            </a:r>
            <a:endParaRPr lang="en-US" sz="1500" dirty="0"/>
          </a:p>
        </p:txBody>
      </p:sp>
      <p:sp>
        <p:nvSpPr>
          <p:cNvPr id="6" name="done 2"/>
          <p:cNvSpPr/>
          <p:nvPr/>
        </p:nvSpPr>
        <p:spPr>
          <a:xfrm>
            <a:off x="3474720" y="4663440"/>
            <a:ext cx="2514600" cy="822960"/>
          </a:xfrm>
          <a:prstGeom prst="roundRect">
            <a:avLst>
              <a:gd name="adj" fmla="val 13333"/>
            </a:avLst>
          </a:prstGeom>
          <a:solidFill>
            <a:schemeClr val="accent1"/>
          </a:solidFill>
          <a:ln w="12700">
            <a:solidFill>
              <a:srgbClr val="8EA9DB"/>
            </a:solidFill>
            <a:prstDash val="solid"/>
          </a:ln>
        </p:spPr>
      </p:sp>
      <p:sp>
        <p:nvSpPr>
          <p:cNvPr id="7" name="Text 5"/>
          <p:cNvSpPr txBox="1"/>
          <p:nvPr/>
        </p:nvSpPr>
        <p:spPr>
          <a:xfrm>
            <a:off x="36576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원시 타입과 유니언</a:t>
            </a:r>
            <a:endParaRPr lang="en-US" sz="1500" dirty="0"/>
          </a:p>
        </p:txBody>
      </p:sp>
      <p:sp>
        <p:nvSpPr>
          <p:cNvPr id="8" name="done 3"/>
          <p:cNvSpPr/>
          <p:nvPr/>
        </p:nvSpPr>
        <p:spPr>
          <a:xfrm>
            <a:off x="6217920" y="4663440"/>
            <a:ext cx="2514600" cy="822960"/>
          </a:xfrm>
          <a:prstGeom prst="roundRect">
            <a:avLst>
              <a:gd name="adj" fmla="val 13333"/>
            </a:avLst>
          </a:prstGeom>
          <a:solidFill>
            <a:schemeClr val="accent1"/>
          </a:solidFill>
          <a:ln w="12700">
            <a:solidFill>
              <a:srgbClr val="8EA9DB"/>
            </a:solidFill>
            <a:prstDash val="solid"/>
          </a:ln>
        </p:spPr>
      </p:sp>
      <p:sp>
        <p:nvSpPr>
          <p:cNvPr id="9" name="Text 7"/>
          <p:cNvSpPr txBox="1"/>
          <p:nvPr/>
        </p:nvSpPr>
        <p:spPr>
          <a:xfrm>
            <a:off x="64008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any 사용 금지</a:t>
            </a:r>
            <a:endParaRPr lang="en-US" sz="1500" dirty="0"/>
          </a:p>
        </p:txBody>
      </p:sp>
      <p:sp>
        <p:nvSpPr>
          <p:cNvPr id="10" name="done 4"/>
          <p:cNvSpPr/>
          <p:nvPr/>
        </p:nvSpPr>
        <p:spPr>
          <a:xfrm>
            <a:off x="8961120" y="4663440"/>
            <a:ext cx="2514600" cy="822960"/>
          </a:xfrm>
          <a:prstGeom prst="roundRect">
            <a:avLst>
              <a:gd name="adj" fmla="val 13333"/>
            </a:avLst>
          </a:prstGeom>
          <a:solidFill>
            <a:schemeClr val="accent1"/>
          </a:solidFill>
          <a:ln w="12700">
            <a:solidFill>
              <a:srgbClr val="8EA9DB"/>
            </a:solidFill>
            <a:prstDash val="solid"/>
          </a:ln>
        </p:spPr>
      </p:sp>
      <p:sp>
        <p:nvSpPr>
          <p:cNvPr id="11" name="Text 9"/>
          <p:cNvSpPr txBox="1"/>
          <p:nvPr/>
        </p:nvSpPr>
        <p:spPr>
          <a:xfrm>
            <a:off x="91440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 로 비교</a:t>
            </a:r>
            <a:endParaRPr lang="en-US" sz="1500" dirty="0"/>
          </a:p>
        </p:txBody>
      </p:sp>
    </p:spTree>
  </p:cSld>
  <p:clrMapOvr>
    <a:masterClrMapping/>
  </p:clrMapOvr>
</p:sld>
</file>

<file path=ppt/theme/theme1.xml><?xml version="1.0" encoding="utf-8"?>
<a:theme xmlns:a="http://schemas.openxmlformats.org/drawingml/2006/main" name="TypeScript Course">
  <a:themeElements>
    <a:clrScheme name="TypeScript Course">
      <a:dk1>
        <a:srgbClr val="262626"/>
      </a:dk1>
      <a:lt1>
        <a:srgbClr val="FFFFFF"/>
      </a:lt1>
      <a:dk2>
        <a:srgbClr val="1F3864"/>
      </a:dk2>
      <a:lt2>
        <a:srgbClr val="EDF2F9"/>
      </a:lt2>
      <a:accent1>
        <a:srgbClr val="1F3864"/>
      </a:accent1>
      <a:accent2>
        <a:srgbClr val="ED7D31"/>
      </a:accent2>
      <a:accent3>
        <a:srgbClr val="2E5FA3"/>
      </a:accent3>
      <a:accent4>
        <a:srgbClr val="70AD47"/>
      </a:accent4>
      <a:accent5>
        <a:srgbClr val="A5A5A5"/>
      </a:accent5>
      <a:accent6>
        <a:srgbClr val="4472C4"/>
      </a:accent6>
      <a:hlink>
        <a:srgbClr val="2E5FA3"/>
      </a:hlink>
      <a:folHlink>
        <a:srgbClr val="7F7F7F"/>
      </a:folHlink>
    </a:clrScheme>
    <a:fontScheme name="TypeScript Cours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2. 어휘 구조와 데이터 타입</dc:title>
  <dc:subject>PptxGenJS Presentation</dc:subject>
  <dc:creator>오영제</dc:creator>
  <cp:lastModifiedBy>오영제</cp:lastModifiedBy>
  <cp:revision>1</cp:revision>
  <dcterms:created xsi:type="dcterms:W3CDTF">2026-10-06T21:27:37Z</dcterms:created>
  <dcterms:modified xsi:type="dcterms:W3CDTF">2026-10-06T21:27:37Z</dcterms:modified>
</cp:coreProperties>
</file>